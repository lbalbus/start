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6" r:id="rId2"/>
    <p:sldId id="377" r:id="rId3"/>
    <p:sldId id="380" r:id="rId4"/>
    <p:sldId id="381" r:id="rId5"/>
    <p:sldId id="382" r:id="rId6"/>
    <p:sldId id="384" r:id="rId7"/>
    <p:sldId id="383" r:id="rId8"/>
    <p:sldId id="385" r:id="rId9"/>
    <p:sldId id="387" r:id="rId10"/>
    <p:sldId id="389" r:id="rId11"/>
    <p:sldId id="388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9EE876-1928-48AE-8277-CAC404DC145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70B1A760-476B-437E-8882-D40E04BC82F6}">
      <dgm:prSet phldrT="[Tekst]" custT="1"/>
      <dgm:spPr/>
      <dgm:t>
        <a:bodyPr/>
        <a:lstStyle/>
        <a:p>
          <a:r>
            <a:rPr lang="pl-PL" sz="1800" b="1" dirty="0" smtClean="0"/>
            <a:t>Inwestor</a:t>
          </a:r>
          <a:r>
            <a:rPr lang="pl-PL" sz="1800" dirty="0" smtClean="0"/>
            <a:t> zawiadamia </a:t>
          </a:r>
          <a:r>
            <a:rPr lang="pl-PL" sz="1800" b="1" dirty="0" smtClean="0"/>
            <a:t>brokera </a:t>
          </a:r>
          <a:r>
            <a:rPr lang="pl-PL" sz="1800" b="0" dirty="0" smtClean="0"/>
            <a:t>o zamiarze zakupu/sprzedaży opcji</a:t>
          </a:r>
          <a:endParaRPr lang="pl-PL" sz="1800" b="0" dirty="0"/>
        </a:p>
      </dgm:t>
    </dgm:pt>
    <dgm:pt modelId="{74958468-B81F-4D5E-9EAB-B385A7D6A8BB}" type="parTrans" cxnId="{0C214C9F-7FE6-465C-A12E-599388A3F059}">
      <dgm:prSet/>
      <dgm:spPr/>
      <dgm:t>
        <a:bodyPr/>
        <a:lstStyle/>
        <a:p>
          <a:endParaRPr lang="pl-PL"/>
        </a:p>
      </dgm:t>
    </dgm:pt>
    <dgm:pt modelId="{96AAB65A-0CDA-4AAF-96B5-B5C150E2F754}" type="sibTrans" cxnId="{0C214C9F-7FE6-465C-A12E-599388A3F059}">
      <dgm:prSet/>
      <dgm:spPr/>
      <dgm:t>
        <a:bodyPr/>
        <a:lstStyle/>
        <a:p>
          <a:endParaRPr lang="pl-PL"/>
        </a:p>
      </dgm:t>
    </dgm:pt>
    <dgm:pt modelId="{A971D6A2-C297-4CD5-9CAC-33F6772F9625}">
      <dgm:prSet phldrT="[Tekst]" custT="1"/>
      <dgm:spPr/>
      <dgm:t>
        <a:bodyPr/>
        <a:lstStyle/>
        <a:p>
          <a:r>
            <a:rPr lang="pl-PL" sz="1800" b="1" dirty="0" smtClean="0"/>
            <a:t>Broker</a:t>
          </a:r>
          <a:r>
            <a:rPr lang="pl-PL" sz="1800" dirty="0" smtClean="0"/>
            <a:t> kontaktuje się z </a:t>
          </a:r>
          <a:r>
            <a:rPr lang="pl-PL" sz="1800" b="1" dirty="0" smtClean="0"/>
            <a:t>brokerem</a:t>
          </a:r>
          <a:r>
            <a:rPr lang="pl-PL" sz="1800" dirty="0" smtClean="0"/>
            <a:t> ze strony przeciwnej. Obie strony ustalają między sobą warunki </a:t>
          </a:r>
          <a:r>
            <a:rPr lang="pl-PL" sz="1800" dirty="0" err="1" smtClean="0"/>
            <a:t>tranzakcji</a:t>
          </a:r>
          <a:r>
            <a:rPr lang="pl-PL" sz="1800" dirty="0" smtClean="0"/>
            <a:t> . </a:t>
          </a:r>
          <a:endParaRPr lang="pl-PL" sz="1800" dirty="0"/>
        </a:p>
      </dgm:t>
    </dgm:pt>
    <dgm:pt modelId="{024EA300-128C-409E-A8F9-41BEE55033E8}" type="parTrans" cxnId="{2BBFCF44-6B07-4842-9BA1-73326DE942B9}">
      <dgm:prSet/>
      <dgm:spPr/>
      <dgm:t>
        <a:bodyPr/>
        <a:lstStyle/>
        <a:p>
          <a:endParaRPr lang="pl-PL"/>
        </a:p>
      </dgm:t>
    </dgm:pt>
    <dgm:pt modelId="{0637AC72-856B-4932-9C07-F610C96EE553}" type="sibTrans" cxnId="{2BBFCF44-6B07-4842-9BA1-73326DE942B9}">
      <dgm:prSet/>
      <dgm:spPr/>
      <dgm:t>
        <a:bodyPr/>
        <a:lstStyle/>
        <a:p>
          <a:endParaRPr lang="pl-PL"/>
        </a:p>
      </dgm:t>
    </dgm:pt>
    <dgm:pt modelId="{0F2C1A66-824F-4E3E-A443-1156E2F29154}">
      <dgm:prSet phldrT="[Tekst]" custT="1"/>
      <dgm:spPr/>
      <dgm:t>
        <a:bodyPr/>
        <a:lstStyle/>
        <a:p>
          <a:r>
            <a:rPr lang="pl-PL" sz="1800" dirty="0" smtClean="0"/>
            <a:t>Jeśli nie dojdzie do </a:t>
          </a:r>
          <a:r>
            <a:rPr lang="pl-PL" sz="1800" dirty="0" err="1" smtClean="0"/>
            <a:t>tranzakcji</a:t>
          </a:r>
          <a:r>
            <a:rPr lang="pl-PL" sz="1800" dirty="0" smtClean="0"/>
            <a:t> to broker przekazuje zlecenie </a:t>
          </a:r>
          <a:r>
            <a:rPr lang="pl-PL" sz="1800" b="1" dirty="0" smtClean="0"/>
            <a:t>maklerowi prowadzącemu rejestr zleceń</a:t>
          </a:r>
          <a:endParaRPr lang="pl-PL" sz="1800" b="1" dirty="0"/>
        </a:p>
      </dgm:t>
    </dgm:pt>
    <dgm:pt modelId="{A48DAF77-EA7A-44AD-8579-A678C020B274}" type="parTrans" cxnId="{56240055-CBB2-482D-ABAC-C60D90E15042}">
      <dgm:prSet/>
      <dgm:spPr/>
      <dgm:t>
        <a:bodyPr/>
        <a:lstStyle/>
        <a:p>
          <a:endParaRPr lang="pl-PL"/>
        </a:p>
      </dgm:t>
    </dgm:pt>
    <dgm:pt modelId="{F57D77C1-2676-4744-A848-6857C9855ABB}" type="sibTrans" cxnId="{56240055-CBB2-482D-ABAC-C60D90E15042}">
      <dgm:prSet/>
      <dgm:spPr/>
      <dgm:t>
        <a:bodyPr/>
        <a:lstStyle/>
        <a:p>
          <a:endParaRPr lang="pl-PL"/>
        </a:p>
      </dgm:t>
    </dgm:pt>
    <dgm:pt modelId="{2E2284BA-DD65-41F6-9349-E078557B47CD}">
      <dgm:prSet phldrT="[Tekst]" custT="1"/>
      <dgm:spPr/>
      <dgm:t>
        <a:bodyPr/>
        <a:lstStyle/>
        <a:p>
          <a:r>
            <a:rPr lang="pl-PL" sz="1800" b="1" dirty="0" smtClean="0"/>
            <a:t>Broker</a:t>
          </a:r>
          <a:r>
            <a:rPr lang="pl-PL" sz="1800" dirty="0" smtClean="0"/>
            <a:t> idzie do </a:t>
          </a:r>
          <a:r>
            <a:rPr lang="pl-PL" sz="1800" i="1" dirty="0" smtClean="0"/>
            <a:t>market </a:t>
          </a:r>
          <a:r>
            <a:rPr lang="pl-PL" sz="1800" i="1" dirty="0" err="1" smtClean="0"/>
            <a:t>makera</a:t>
          </a:r>
          <a:r>
            <a:rPr lang="pl-PL" sz="1800" i="1" dirty="0" smtClean="0"/>
            <a:t>. Market </a:t>
          </a:r>
          <a:r>
            <a:rPr lang="pl-PL" sz="1800" i="1" dirty="0" err="1" smtClean="0"/>
            <a:t>maker</a:t>
          </a:r>
          <a:r>
            <a:rPr lang="pl-PL" sz="1800" i="1" dirty="0" smtClean="0"/>
            <a:t> </a:t>
          </a:r>
          <a:r>
            <a:rPr lang="pl-PL" sz="1800" i="0" dirty="0" smtClean="0"/>
            <a:t>ustala cenę </a:t>
          </a:r>
          <a:r>
            <a:rPr lang="pl-PL" sz="1800" i="0" dirty="0" err="1" smtClean="0"/>
            <a:t>tranzakcji</a:t>
          </a:r>
          <a:r>
            <a:rPr lang="pl-PL" sz="1800" i="0" dirty="0" smtClean="0"/>
            <a:t> uwzględniając standardy giełdy (uwzględnia tzw. widełki cenowe)</a:t>
          </a:r>
          <a:endParaRPr lang="pl-PL" sz="1800" i="1" dirty="0"/>
        </a:p>
      </dgm:t>
    </dgm:pt>
    <dgm:pt modelId="{1DD5D838-791E-45A6-9F27-6993B40A2B7B}" type="parTrans" cxnId="{BB17855C-197E-4F7E-8D74-53576387CBD1}">
      <dgm:prSet/>
      <dgm:spPr/>
      <dgm:t>
        <a:bodyPr/>
        <a:lstStyle/>
        <a:p>
          <a:endParaRPr lang="pl-PL"/>
        </a:p>
      </dgm:t>
    </dgm:pt>
    <dgm:pt modelId="{A7C2CD95-3384-41DC-8C62-4307FC17CD0A}" type="sibTrans" cxnId="{BB17855C-197E-4F7E-8D74-53576387CBD1}">
      <dgm:prSet/>
      <dgm:spPr/>
      <dgm:t>
        <a:bodyPr/>
        <a:lstStyle/>
        <a:p>
          <a:endParaRPr lang="pl-PL"/>
        </a:p>
      </dgm:t>
    </dgm:pt>
    <dgm:pt modelId="{B4B33E86-305B-4587-A191-E91C5B32EE39}">
      <dgm:prSet phldrT="[Tekst]" custT="1"/>
      <dgm:spPr/>
      <dgm:t>
        <a:bodyPr/>
        <a:lstStyle/>
        <a:p>
          <a:r>
            <a:rPr lang="pl-PL" sz="1800" dirty="0" smtClean="0"/>
            <a:t>Jeśli nie dojdzie do </a:t>
          </a:r>
          <a:r>
            <a:rPr lang="pl-PL" sz="1800" dirty="0" err="1" smtClean="0"/>
            <a:t>tranzakcji</a:t>
          </a:r>
          <a:r>
            <a:rPr lang="pl-PL" sz="1800" dirty="0" smtClean="0"/>
            <a:t> to broker przekazuje zlecenie </a:t>
          </a:r>
          <a:r>
            <a:rPr lang="pl-PL" sz="1800" b="1" dirty="0" smtClean="0"/>
            <a:t>maklerowi prowadzącemu rejestr zleceń</a:t>
          </a:r>
          <a:endParaRPr lang="pl-PL" sz="1800" dirty="0"/>
        </a:p>
      </dgm:t>
    </dgm:pt>
    <dgm:pt modelId="{AC48C3D8-E426-461B-B0BA-355CA4BFDCC7}" type="parTrans" cxnId="{615EDD42-0A6D-4403-82B9-DE225F6CE551}">
      <dgm:prSet/>
      <dgm:spPr/>
      <dgm:t>
        <a:bodyPr/>
        <a:lstStyle/>
        <a:p>
          <a:endParaRPr lang="pl-PL"/>
        </a:p>
      </dgm:t>
    </dgm:pt>
    <dgm:pt modelId="{EB49B84B-E4E2-498F-BD47-3A6304EB95F4}" type="sibTrans" cxnId="{615EDD42-0A6D-4403-82B9-DE225F6CE551}">
      <dgm:prSet/>
      <dgm:spPr/>
      <dgm:t>
        <a:bodyPr/>
        <a:lstStyle/>
        <a:p>
          <a:endParaRPr lang="pl-PL"/>
        </a:p>
      </dgm:t>
    </dgm:pt>
    <dgm:pt modelId="{68E3F2E2-7A9B-42DA-82C9-397C42B2215F}" type="pres">
      <dgm:prSet presAssocID="{CD9EE876-1928-48AE-8277-CAC404DC145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l-PL"/>
        </a:p>
      </dgm:t>
    </dgm:pt>
    <dgm:pt modelId="{0F7F9947-2B28-4CD1-8033-BDAB651E1BB6}" type="pres">
      <dgm:prSet presAssocID="{70B1A760-476B-437E-8882-D40E04BC82F6}" presName="root1" presStyleCnt="0"/>
      <dgm:spPr/>
    </dgm:pt>
    <dgm:pt modelId="{1B38153B-4F72-4195-A93F-157EBDCD1368}" type="pres">
      <dgm:prSet presAssocID="{70B1A760-476B-437E-8882-D40E04BC82F6}" presName="LevelOneTextNode" presStyleLbl="node0" presStyleIdx="0" presStyleCnt="1" custLinFactNeighborX="224" custLinFactNeighborY="-27385">
        <dgm:presLayoutVars>
          <dgm:chPref val="3"/>
        </dgm:presLayoutVars>
      </dgm:prSet>
      <dgm:spPr/>
      <dgm:t>
        <a:bodyPr/>
        <a:lstStyle/>
        <a:p>
          <a:endParaRPr lang="pl-PL"/>
        </a:p>
      </dgm:t>
    </dgm:pt>
    <dgm:pt modelId="{67C3E7FB-A734-4A6A-B312-98ED5EC78F6F}" type="pres">
      <dgm:prSet presAssocID="{70B1A760-476B-437E-8882-D40E04BC82F6}" presName="level2hierChild" presStyleCnt="0"/>
      <dgm:spPr/>
    </dgm:pt>
    <dgm:pt modelId="{7CA01620-9137-4374-9AB7-493DCA59232F}" type="pres">
      <dgm:prSet presAssocID="{024EA300-128C-409E-A8F9-41BEE55033E8}" presName="conn2-1" presStyleLbl="parChTrans1D2" presStyleIdx="0" presStyleCnt="2"/>
      <dgm:spPr/>
      <dgm:t>
        <a:bodyPr/>
        <a:lstStyle/>
        <a:p>
          <a:endParaRPr lang="pl-PL"/>
        </a:p>
      </dgm:t>
    </dgm:pt>
    <dgm:pt modelId="{7391797A-4EB1-45F0-AAB8-189DB1A6479E}" type="pres">
      <dgm:prSet presAssocID="{024EA300-128C-409E-A8F9-41BEE55033E8}" presName="connTx" presStyleLbl="parChTrans1D2" presStyleIdx="0" presStyleCnt="2"/>
      <dgm:spPr/>
      <dgm:t>
        <a:bodyPr/>
        <a:lstStyle/>
        <a:p>
          <a:endParaRPr lang="pl-PL"/>
        </a:p>
      </dgm:t>
    </dgm:pt>
    <dgm:pt modelId="{231BEFF9-64DA-4283-9DFC-F5459BADAAA2}" type="pres">
      <dgm:prSet presAssocID="{A971D6A2-C297-4CD5-9CAC-33F6772F9625}" presName="root2" presStyleCnt="0"/>
      <dgm:spPr/>
    </dgm:pt>
    <dgm:pt modelId="{E316D885-A2AC-43E5-B86A-262B41D2C413}" type="pres">
      <dgm:prSet presAssocID="{A971D6A2-C297-4CD5-9CAC-33F6772F9625}" presName="LevelTwoTextNode" presStyleLbl="node2" presStyleIdx="0" presStyleCnt="2" custScaleX="104978" custScaleY="174399" custLinFactNeighborX="-7058" custLinFactNeighborY="-33577">
        <dgm:presLayoutVars>
          <dgm:chPref val="3"/>
        </dgm:presLayoutVars>
      </dgm:prSet>
      <dgm:spPr/>
      <dgm:t>
        <a:bodyPr/>
        <a:lstStyle/>
        <a:p>
          <a:endParaRPr lang="pl-PL"/>
        </a:p>
      </dgm:t>
    </dgm:pt>
    <dgm:pt modelId="{D3967A9E-67D1-4443-BE64-F5382A9B4F3B}" type="pres">
      <dgm:prSet presAssocID="{A971D6A2-C297-4CD5-9CAC-33F6772F9625}" presName="level3hierChild" presStyleCnt="0"/>
      <dgm:spPr/>
    </dgm:pt>
    <dgm:pt modelId="{83592141-EAC6-4971-A35E-73599AA1E260}" type="pres">
      <dgm:prSet presAssocID="{A48DAF77-EA7A-44AD-8579-A678C020B274}" presName="conn2-1" presStyleLbl="parChTrans1D3" presStyleIdx="0" presStyleCnt="2"/>
      <dgm:spPr/>
      <dgm:t>
        <a:bodyPr/>
        <a:lstStyle/>
        <a:p>
          <a:endParaRPr lang="pl-PL"/>
        </a:p>
      </dgm:t>
    </dgm:pt>
    <dgm:pt modelId="{7488F997-B687-4F5C-843E-ED1DA365DCF8}" type="pres">
      <dgm:prSet presAssocID="{A48DAF77-EA7A-44AD-8579-A678C020B274}" presName="connTx" presStyleLbl="parChTrans1D3" presStyleIdx="0" presStyleCnt="2"/>
      <dgm:spPr/>
      <dgm:t>
        <a:bodyPr/>
        <a:lstStyle/>
        <a:p>
          <a:endParaRPr lang="pl-PL"/>
        </a:p>
      </dgm:t>
    </dgm:pt>
    <dgm:pt modelId="{2D70D159-7593-4598-ABCE-3937CCEC07B1}" type="pres">
      <dgm:prSet presAssocID="{0F2C1A66-824F-4E3E-A443-1156E2F29154}" presName="root2" presStyleCnt="0"/>
      <dgm:spPr/>
    </dgm:pt>
    <dgm:pt modelId="{15DAB5F9-480B-4F44-B028-F008791F1A38}" type="pres">
      <dgm:prSet presAssocID="{0F2C1A66-824F-4E3E-A443-1156E2F29154}" presName="LevelTwoTextNode" presStyleLbl="node3" presStyleIdx="0" presStyleCnt="2" custScaleX="87605" custScaleY="177946" custLinFactNeighborX="-137" custLinFactNeighborY="-68953">
        <dgm:presLayoutVars>
          <dgm:chPref val="3"/>
        </dgm:presLayoutVars>
      </dgm:prSet>
      <dgm:spPr/>
      <dgm:t>
        <a:bodyPr/>
        <a:lstStyle/>
        <a:p>
          <a:endParaRPr lang="pl-PL"/>
        </a:p>
      </dgm:t>
    </dgm:pt>
    <dgm:pt modelId="{4987EE42-3009-4FFC-BE04-DCCBA5582A0B}" type="pres">
      <dgm:prSet presAssocID="{0F2C1A66-824F-4E3E-A443-1156E2F29154}" presName="level3hierChild" presStyleCnt="0"/>
      <dgm:spPr/>
    </dgm:pt>
    <dgm:pt modelId="{44DFD7B3-582A-4201-A756-11EE50727361}" type="pres">
      <dgm:prSet presAssocID="{1DD5D838-791E-45A6-9F27-6993B40A2B7B}" presName="conn2-1" presStyleLbl="parChTrans1D2" presStyleIdx="1" presStyleCnt="2"/>
      <dgm:spPr/>
      <dgm:t>
        <a:bodyPr/>
        <a:lstStyle/>
        <a:p>
          <a:endParaRPr lang="pl-PL"/>
        </a:p>
      </dgm:t>
    </dgm:pt>
    <dgm:pt modelId="{987E905E-CF0A-474B-9444-FC113B00A69F}" type="pres">
      <dgm:prSet presAssocID="{1DD5D838-791E-45A6-9F27-6993B40A2B7B}" presName="connTx" presStyleLbl="parChTrans1D2" presStyleIdx="1" presStyleCnt="2"/>
      <dgm:spPr/>
      <dgm:t>
        <a:bodyPr/>
        <a:lstStyle/>
        <a:p>
          <a:endParaRPr lang="pl-PL"/>
        </a:p>
      </dgm:t>
    </dgm:pt>
    <dgm:pt modelId="{E1813C4C-0910-4C85-B090-0ED9D0C85581}" type="pres">
      <dgm:prSet presAssocID="{2E2284BA-DD65-41F6-9349-E078557B47CD}" presName="root2" presStyleCnt="0"/>
      <dgm:spPr/>
    </dgm:pt>
    <dgm:pt modelId="{2037C5FD-95CA-4743-84F9-59326A1B2061}" type="pres">
      <dgm:prSet presAssocID="{2E2284BA-DD65-41F6-9349-E078557B47CD}" presName="LevelTwoTextNode" presStyleLbl="node2" presStyleIdx="1" presStyleCnt="2" custScaleX="100266" custScaleY="198002" custLinFactNeighborX="-3740" custLinFactNeighborY="28573">
        <dgm:presLayoutVars>
          <dgm:chPref val="3"/>
        </dgm:presLayoutVars>
      </dgm:prSet>
      <dgm:spPr/>
      <dgm:t>
        <a:bodyPr/>
        <a:lstStyle/>
        <a:p>
          <a:endParaRPr lang="pl-PL"/>
        </a:p>
      </dgm:t>
    </dgm:pt>
    <dgm:pt modelId="{D03DB587-1BCD-419A-967D-37B0205014B8}" type="pres">
      <dgm:prSet presAssocID="{2E2284BA-DD65-41F6-9349-E078557B47CD}" presName="level3hierChild" presStyleCnt="0"/>
      <dgm:spPr/>
    </dgm:pt>
    <dgm:pt modelId="{1E218DA7-D378-47DF-A821-1B5789066FC4}" type="pres">
      <dgm:prSet presAssocID="{AC48C3D8-E426-461B-B0BA-355CA4BFDCC7}" presName="conn2-1" presStyleLbl="parChTrans1D3" presStyleIdx="1" presStyleCnt="2"/>
      <dgm:spPr/>
      <dgm:t>
        <a:bodyPr/>
        <a:lstStyle/>
        <a:p>
          <a:endParaRPr lang="pl-PL"/>
        </a:p>
      </dgm:t>
    </dgm:pt>
    <dgm:pt modelId="{81D3480A-3EB6-4846-96CB-D79B347FA245}" type="pres">
      <dgm:prSet presAssocID="{AC48C3D8-E426-461B-B0BA-355CA4BFDCC7}" presName="connTx" presStyleLbl="parChTrans1D3" presStyleIdx="1" presStyleCnt="2"/>
      <dgm:spPr/>
      <dgm:t>
        <a:bodyPr/>
        <a:lstStyle/>
        <a:p>
          <a:endParaRPr lang="pl-PL"/>
        </a:p>
      </dgm:t>
    </dgm:pt>
    <dgm:pt modelId="{D5234BB8-8FCA-440E-ABB5-A50DD4D8218C}" type="pres">
      <dgm:prSet presAssocID="{B4B33E86-305B-4587-A191-E91C5B32EE39}" presName="root2" presStyleCnt="0"/>
      <dgm:spPr/>
    </dgm:pt>
    <dgm:pt modelId="{328FC4EA-765D-4D62-B327-50B4203F2F6A}" type="pres">
      <dgm:prSet presAssocID="{B4B33E86-305B-4587-A191-E91C5B32EE39}" presName="LevelTwoTextNode" presStyleLbl="node3" presStyleIdx="1" presStyleCnt="2" custScaleX="99387" custScaleY="192950" custLinFactNeighborX="-3909" custLinFactNeighborY="20660">
        <dgm:presLayoutVars>
          <dgm:chPref val="3"/>
        </dgm:presLayoutVars>
      </dgm:prSet>
      <dgm:spPr/>
      <dgm:t>
        <a:bodyPr/>
        <a:lstStyle/>
        <a:p>
          <a:endParaRPr lang="pl-PL"/>
        </a:p>
      </dgm:t>
    </dgm:pt>
    <dgm:pt modelId="{2FDBC79C-18A1-435C-9BC7-7B7998183E42}" type="pres">
      <dgm:prSet presAssocID="{B4B33E86-305B-4587-A191-E91C5B32EE39}" presName="level3hierChild" presStyleCnt="0"/>
      <dgm:spPr/>
    </dgm:pt>
  </dgm:ptLst>
  <dgm:cxnLst>
    <dgm:cxn modelId="{0C4B0F77-B7AA-495E-9586-E69D05EA4B40}" type="presOf" srcId="{AC48C3D8-E426-461B-B0BA-355CA4BFDCC7}" destId="{81D3480A-3EB6-4846-96CB-D79B347FA245}" srcOrd="1" destOrd="0" presId="urn:microsoft.com/office/officeart/2005/8/layout/hierarchy2"/>
    <dgm:cxn modelId="{A9A42348-46A0-4E49-911C-EB7FE939355D}" type="presOf" srcId="{1DD5D838-791E-45A6-9F27-6993B40A2B7B}" destId="{987E905E-CF0A-474B-9444-FC113B00A69F}" srcOrd="1" destOrd="0" presId="urn:microsoft.com/office/officeart/2005/8/layout/hierarchy2"/>
    <dgm:cxn modelId="{8F03A080-4EC3-44CF-9C4C-32018C40B778}" type="presOf" srcId="{B4B33E86-305B-4587-A191-E91C5B32EE39}" destId="{328FC4EA-765D-4D62-B327-50B4203F2F6A}" srcOrd="0" destOrd="0" presId="urn:microsoft.com/office/officeart/2005/8/layout/hierarchy2"/>
    <dgm:cxn modelId="{7BC2D1AB-A3CA-4B14-A3A9-4CF1DEEB2720}" type="presOf" srcId="{AC48C3D8-E426-461B-B0BA-355CA4BFDCC7}" destId="{1E218DA7-D378-47DF-A821-1B5789066FC4}" srcOrd="0" destOrd="0" presId="urn:microsoft.com/office/officeart/2005/8/layout/hierarchy2"/>
    <dgm:cxn modelId="{808CC310-C86C-465F-9086-037E2F290106}" type="presOf" srcId="{70B1A760-476B-437E-8882-D40E04BC82F6}" destId="{1B38153B-4F72-4195-A93F-157EBDCD1368}" srcOrd="0" destOrd="0" presId="urn:microsoft.com/office/officeart/2005/8/layout/hierarchy2"/>
    <dgm:cxn modelId="{0D4F62EB-1725-46A7-8944-95179BDB3824}" type="presOf" srcId="{A48DAF77-EA7A-44AD-8579-A678C020B274}" destId="{83592141-EAC6-4971-A35E-73599AA1E260}" srcOrd="0" destOrd="0" presId="urn:microsoft.com/office/officeart/2005/8/layout/hierarchy2"/>
    <dgm:cxn modelId="{C2C63789-598B-4B77-89EB-DCEA82F9DAAD}" type="presOf" srcId="{A48DAF77-EA7A-44AD-8579-A678C020B274}" destId="{7488F997-B687-4F5C-843E-ED1DA365DCF8}" srcOrd="1" destOrd="0" presId="urn:microsoft.com/office/officeart/2005/8/layout/hierarchy2"/>
    <dgm:cxn modelId="{C1B3E0C9-699D-455E-87E0-A2A51DE29979}" type="presOf" srcId="{A971D6A2-C297-4CD5-9CAC-33F6772F9625}" destId="{E316D885-A2AC-43E5-B86A-262B41D2C413}" srcOrd="0" destOrd="0" presId="urn:microsoft.com/office/officeart/2005/8/layout/hierarchy2"/>
    <dgm:cxn modelId="{56240055-CBB2-482D-ABAC-C60D90E15042}" srcId="{A971D6A2-C297-4CD5-9CAC-33F6772F9625}" destId="{0F2C1A66-824F-4E3E-A443-1156E2F29154}" srcOrd="0" destOrd="0" parTransId="{A48DAF77-EA7A-44AD-8579-A678C020B274}" sibTransId="{F57D77C1-2676-4744-A848-6857C9855ABB}"/>
    <dgm:cxn modelId="{0C214C9F-7FE6-465C-A12E-599388A3F059}" srcId="{CD9EE876-1928-48AE-8277-CAC404DC1451}" destId="{70B1A760-476B-437E-8882-D40E04BC82F6}" srcOrd="0" destOrd="0" parTransId="{74958468-B81F-4D5E-9EAB-B385A7D6A8BB}" sibTransId="{96AAB65A-0CDA-4AAF-96B5-B5C150E2F754}"/>
    <dgm:cxn modelId="{615EDD42-0A6D-4403-82B9-DE225F6CE551}" srcId="{2E2284BA-DD65-41F6-9349-E078557B47CD}" destId="{B4B33E86-305B-4587-A191-E91C5B32EE39}" srcOrd="0" destOrd="0" parTransId="{AC48C3D8-E426-461B-B0BA-355CA4BFDCC7}" sibTransId="{EB49B84B-E4E2-498F-BD47-3A6304EB95F4}"/>
    <dgm:cxn modelId="{BB17855C-197E-4F7E-8D74-53576387CBD1}" srcId="{70B1A760-476B-437E-8882-D40E04BC82F6}" destId="{2E2284BA-DD65-41F6-9349-E078557B47CD}" srcOrd="1" destOrd="0" parTransId="{1DD5D838-791E-45A6-9F27-6993B40A2B7B}" sibTransId="{A7C2CD95-3384-41DC-8C62-4307FC17CD0A}"/>
    <dgm:cxn modelId="{2BBFCF44-6B07-4842-9BA1-73326DE942B9}" srcId="{70B1A760-476B-437E-8882-D40E04BC82F6}" destId="{A971D6A2-C297-4CD5-9CAC-33F6772F9625}" srcOrd="0" destOrd="0" parTransId="{024EA300-128C-409E-A8F9-41BEE55033E8}" sibTransId="{0637AC72-856B-4932-9C07-F610C96EE553}"/>
    <dgm:cxn modelId="{D916E11A-4ED7-479A-A696-E0AA6F242276}" type="presOf" srcId="{CD9EE876-1928-48AE-8277-CAC404DC1451}" destId="{68E3F2E2-7A9B-42DA-82C9-397C42B2215F}" srcOrd="0" destOrd="0" presId="urn:microsoft.com/office/officeart/2005/8/layout/hierarchy2"/>
    <dgm:cxn modelId="{A184F90E-A2C6-446B-B34B-0952E11FF150}" type="presOf" srcId="{024EA300-128C-409E-A8F9-41BEE55033E8}" destId="{7391797A-4EB1-45F0-AAB8-189DB1A6479E}" srcOrd="1" destOrd="0" presId="urn:microsoft.com/office/officeart/2005/8/layout/hierarchy2"/>
    <dgm:cxn modelId="{A93B760A-7FED-4FC5-B935-F5DBA54E3654}" type="presOf" srcId="{024EA300-128C-409E-A8F9-41BEE55033E8}" destId="{7CA01620-9137-4374-9AB7-493DCA59232F}" srcOrd="0" destOrd="0" presId="urn:microsoft.com/office/officeart/2005/8/layout/hierarchy2"/>
    <dgm:cxn modelId="{ED74BB23-0497-446D-BF34-441BD79AF9B0}" type="presOf" srcId="{0F2C1A66-824F-4E3E-A443-1156E2F29154}" destId="{15DAB5F9-480B-4F44-B028-F008791F1A38}" srcOrd="0" destOrd="0" presId="urn:microsoft.com/office/officeart/2005/8/layout/hierarchy2"/>
    <dgm:cxn modelId="{72071933-20D5-44BB-9FE4-461AC55F051C}" type="presOf" srcId="{2E2284BA-DD65-41F6-9349-E078557B47CD}" destId="{2037C5FD-95CA-4743-84F9-59326A1B2061}" srcOrd="0" destOrd="0" presId="urn:microsoft.com/office/officeart/2005/8/layout/hierarchy2"/>
    <dgm:cxn modelId="{43076673-D9B6-4ACD-BCC4-B35EE97E26DC}" type="presOf" srcId="{1DD5D838-791E-45A6-9F27-6993B40A2B7B}" destId="{44DFD7B3-582A-4201-A756-11EE50727361}" srcOrd="0" destOrd="0" presId="urn:microsoft.com/office/officeart/2005/8/layout/hierarchy2"/>
    <dgm:cxn modelId="{4FA04AE1-EC34-46DB-B759-FD390806AC5E}" type="presParOf" srcId="{68E3F2E2-7A9B-42DA-82C9-397C42B2215F}" destId="{0F7F9947-2B28-4CD1-8033-BDAB651E1BB6}" srcOrd="0" destOrd="0" presId="urn:microsoft.com/office/officeart/2005/8/layout/hierarchy2"/>
    <dgm:cxn modelId="{39AF9639-7CC5-4CE3-97D1-1192E1CA0FE7}" type="presParOf" srcId="{0F7F9947-2B28-4CD1-8033-BDAB651E1BB6}" destId="{1B38153B-4F72-4195-A93F-157EBDCD1368}" srcOrd="0" destOrd="0" presId="urn:microsoft.com/office/officeart/2005/8/layout/hierarchy2"/>
    <dgm:cxn modelId="{6D5F1848-D379-493A-BA23-5C9607E5FB91}" type="presParOf" srcId="{0F7F9947-2B28-4CD1-8033-BDAB651E1BB6}" destId="{67C3E7FB-A734-4A6A-B312-98ED5EC78F6F}" srcOrd="1" destOrd="0" presId="urn:microsoft.com/office/officeart/2005/8/layout/hierarchy2"/>
    <dgm:cxn modelId="{57DF3BAB-759E-4359-8175-C6705630BB70}" type="presParOf" srcId="{67C3E7FB-A734-4A6A-B312-98ED5EC78F6F}" destId="{7CA01620-9137-4374-9AB7-493DCA59232F}" srcOrd="0" destOrd="0" presId="urn:microsoft.com/office/officeart/2005/8/layout/hierarchy2"/>
    <dgm:cxn modelId="{4647623E-7846-4219-9EA3-BFD52AB38CF5}" type="presParOf" srcId="{7CA01620-9137-4374-9AB7-493DCA59232F}" destId="{7391797A-4EB1-45F0-AAB8-189DB1A6479E}" srcOrd="0" destOrd="0" presId="urn:microsoft.com/office/officeart/2005/8/layout/hierarchy2"/>
    <dgm:cxn modelId="{7A18FD7D-92BE-4866-9740-E5C7B8E0F288}" type="presParOf" srcId="{67C3E7FB-A734-4A6A-B312-98ED5EC78F6F}" destId="{231BEFF9-64DA-4283-9DFC-F5459BADAAA2}" srcOrd="1" destOrd="0" presId="urn:microsoft.com/office/officeart/2005/8/layout/hierarchy2"/>
    <dgm:cxn modelId="{12CA7E1C-C3E3-41D2-8933-9C30D258D037}" type="presParOf" srcId="{231BEFF9-64DA-4283-9DFC-F5459BADAAA2}" destId="{E316D885-A2AC-43E5-B86A-262B41D2C413}" srcOrd="0" destOrd="0" presId="urn:microsoft.com/office/officeart/2005/8/layout/hierarchy2"/>
    <dgm:cxn modelId="{81CA397E-66FA-4B0F-A410-1F72827C272E}" type="presParOf" srcId="{231BEFF9-64DA-4283-9DFC-F5459BADAAA2}" destId="{D3967A9E-67D1-4443-BE64-F5382A9B4F3B}" srcOrd="1" destOrd="0" presId="urn:microsoft.com/office/officeart/2005/8/layout/hierarchy2"/>
    <dgm:cxn modelId="{DECF5705-AE56-4601-A860-59C7760A41E1}" type="presParOf" srcId="{D3967A9E-67D1-4443-BE64-F5382A9B4F3B}" destId="{83592141-EAC6-4971-A35E-73599AA1E260}" srcOrd="0" destOrd="0" presId="urn:microsoft.com/office/officeart/2005/8/layout/hierarchy2"/>
    <dgm:cxn modelId="{3369949F-5D6D-4D2E-974D-17479C7E62D2}" type="presParOf" srcId="{83592141-EAC6-4971-A35E-73599AA1E260}" destId="{7488F997-B687-4F5C-843E-ED1DA365DCF8}" srcOrd="0" destOrd="0" presId="urn:microsoft.com/office/officeart/2005/8/layout/hierarchy2"/>
    <dgm:cxn modelId="{E6E7ECB1-18CE-4B87-85A4-5AD3CA46B844}" type="presParOf" srcId="{D3967A9E-67D1-4443-BE64-F5382A9B4F3B}" destId="{2D70D159-7593-4598-ABCE-3937CCEC07B1}" srcOrd="1" destOrd="0" presId="urn:microsoft.com/office/officeart/2005/8/layout/hierarchy2"/>
    <dgm:cxn modelId="{610A305F-2ED9-44CA-AD9C-03062E08BAEC}" type="presParOf" srcId="{2D70D159-7593-4598-ABCE-3937CCEC07B1}" destId="{15DAB5F9-480B-4F44-B028-F008791F1A38}" srcOrd="0" destOrd="0" presId="urn:microsoft.com/office/officeart/2005/8/layout/hierarchy2"/>
    <dgm:cxn modelId="{3AEDEC84-12F5-45F9-B3A7-65FA3ACD1C49}" type="presParOf" srcId="{2D70D159-7593-4598-ABCE-3937CCEC07B1}" destId="{4987EE42-3009-4FFC-BE04-DCCBA5582A0B}" srcOrd="1" destOrd="0" presId="urn:microsoft.com/office/officeart/2005/8/layout/hierarchy2"/>
    <dgm:cxn modelId="{9237799F-8DC4-49EE-878B-0899A296CFA1}" type="presParOf" srcId="{67C3E7FB-A734-4A6A-B312-98ED5EC78F6F}" destId="{44DFD7B3-582A-4201-A756-11EE50727361}" srcOrd="2" destOrd="0" presId="urn:microsoft.com/office/officeart/2005/8/layout/hierarchy2"/>
    <dgm:cxn modelId="{02D64E11-62E9-4E5B-9202-E392001B5A9B}" type="presParOf" srcId="{44DFD7B3-582A-4201-A756-11EE50727361}" destId="{987E905E-CF0A-474B-9444-FC113B00A69F}" srcOrd="0" destOrd="0" presId="urn:microsoft.com/office/officeart/2005/8/layout/hierarchy2"/>
    <dgm:cxn modelId="{95C1A30F-B317-46D3-829F-1C02EB3D77C9}" type="presParOf" srcId="{67C3E7FB-A734-4A6A-B312-98ED5EC78F6F}" destId="{E1813C4C-0910-4C85-B090-0ED9D0C85581}" srcOrd="3" destOrd="0" presId="urn:microsoft.com/office/officeart/2005/8/layout/hierarchy2"/>
    <dgm:cxn modelId="{66422816-034B-4273-A7BB-967356FE687E}" type="presParOf" srcId="{E1813C4C-0910-4C85-B090-0ED9D0C85581}" destId="{2037C5FD-95CA-4743-84F9-59326A1B2061}" srcOrd="0" destOrd="0" presId="urn:microsoft.com/office/officeart/2005/8/layout/hierarchy2"/>
    <dgm:cxn modelId="{C1E5F460-2388-487F-AB52-86B6219A23A1}" type="presParOf" srcId="{E1813C4C-0910-4C85-B090-0ED9D0C85581}" destId="{D03DB587-1BCD-419A-967D-37B0205014B8}" srcOrd="1" destOrd="0" presId="urn:microsoft.com/office/officeart/2005/8/layout/hierarchy2"/>
    <dgm:cxn modelId="{62187A15-DCBB-45D3-8518-FE0CACB9FE23}" type="presParOf" srcId="{D03DB587-1BCD-419A-967D-37B0205014B8}" destId="{1E218DA7-D378-47DF-A821-1B5789066FC4}" srcOrd="0" destOrd="0" presId="urn:microsoft.com/office/officeart/2005/8/layout/hierarchy2"/>
    <dgm:cxn modelId="{6771D75E-FE16-40C1-80E7-B42E4BCB2CB7}" type="presParOf" srcId="{1E218DA7-D378-47DF-A821-1B5789066FC4}" destId="{81D3480A-3EB6-4846-96CB-D79B347FA245}" srcOrd="0" destOrd="0" presId="urn:microsoft.com/office/officeart/2005/8/layout/hierarchy2"/>
    <dgm:cxn modelId="{CB805E0C-E7B5-4146-947B-D6135EFB5993}" type="presParOf" srcId="{D03DB587-1BCD-419A-967D-37B0205014B8}" destId="{D5234BB8-8FCA-440E-ABB5-A50DD4D8218C}" srcOrd="1" destOrd="0" presId="urn:microsoft.com/office/officeart/2005/8/layout/hierarchy2"/>
    <dgm:cxn modelId="{43C6D4EF-7683-43BF-9EC0-602AB77316D5}" type="presParOf" srcId="{D5234BB8-8FCA-440E-ABB5-A50DD4D8218C}" destId="{328FC4EA-765D-4D62-B327-50B4203F2F6A}" srcOrd="0" destOrd="0" presId="urn:microsoft.com/office/officeart/2005/8/layout/hierarchy2"/>
    <dgm:cxn modelId="{6DAC4625-2803-4BB6-86B2-7A9108E8DE67}" type="presParOf" srcId="{D5234BB8-8FCA-440E-ABB5-A50DD4D8218C}" destId="{2FDBC79C-18A1-435C-9BC7-7B7998183E4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B38153B-4F72-4195-A93F-157EBDCD1368}">
      <dsp:nvSpPr>
        <dsp:cNvPr id="0" name=""/>
        <dsp:cNvSpPr/>
      </dsp:nvSpPr>
      <dsp:spPr>
        <a:xfrm>
          <a:off x="12505" y="1435412"/>
          <a:ext cx="2163629" cy="10818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800" b="1" kern="1200" dirty="0" smtClean="0"/>
            <a:t>Inwestor</a:t>
          </a:r>
          <a:r>
            <a:rPr lang="pl-PL" sz="1800" kern="1200" dirty="0" smtClean="0"/>
            <a:t> zawiadamia </a:t>
          </a:r>
          <a:r>
            <a:rPr lang="pl-PL" sz="1800" b="1" kern="1200" dirty="0" smtClean="0"/>
            <a:t>brokera </a:t>
          </a:r>
          <a:r>
            <a:rPr lang="pl-PL" sz="1800" b="0" kern="1200" dirty="0" smtClean="0"/>
            <a:t>o zamiarze zakupu/sprzedaży opcji</a:t>
          </a:r>
          <a:endParaRPr lang="pl-PL" sz="1800" b="0" kern="1200" dirty="0"/>
        </a:p>
      </dsp:txBody>
      <dsp:txXfrm>
        <a:off x="12505" y="1435412"/>
        <a:ext cx="2163629" cy="1081814"/>
      </dsp:txXfrm>
    </dsp:sp>
    <dsp:sp modelId="{7CA01620-9137-4374-9AB7-493DCA59232F}">
      <dsp:nvSpPr>
        <dsp:cNvPr id="0" name=""/>
        <dsp:cNvSpPr/>
      </dsp:nvSpPr>
      <dsp:spPr>
        <a:xfrm rot="18265355">
          <a:off x="1903949" y="1438316"/>
          <a:ext cx="1252266" cy="43024"/>
        </a:xfrm>
        <a:custGeom>
          <a:avLst/>
          <a:gdLst/>
          <a:ahLst/>
          <a:cxnLst/>
          <a:rect l="0" t="0" r="0" b="0"/>
          <a:pathLst>
            <a:path>
              <a:moveTo>
                <a:pt x="0" y="21512"/>
              </a:moveTo>
              <a:lnTo>
                <a:pt x="1252266" y="215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kern="1200"/>
        </a:p>
      </dsp:txBody>
      <dsp:txXfrm rot="18265355">
        <a:off x="2498775" y="1428521"/>
        <a:ext cx="62613" cy="62613"/>
      </dsp:txXfrm>
    </dsp:sp>
    <dsp:sp modelId="{E316D885-A2AC-43E5-B86A-262B41D2C413}">
      <dsp:nvSpPr>
        <dsp:cNvPr id="0" name=""/>
        <dsp:cNvSpPr/>
      </dsp:nvSpPr>
      <dsp:spPr>
        <a:xfrm>
          <a:off x="2884030" y="0"/>
          <a:ext cx="2271334" cy="1886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800" b="1" kern="1200" dirty="0" smtClean="0"/>
            <a:t>Broker</a:t>
          </a:r>
          <a:r>
            <a:rPr lang="pl-PL" sz="1800" kern="1200" dirty="0" smtClean="0"/>
            <a:t> kontaktuje się z </a:t>
          </a:r>
          <a:r>
            <a:rPr lang="pl-PL" sz="1800" b="1" kern="1200" dirty="0" smtClean="0"/>
            <a:t>brokerem</a:t>
          </a:r>
          <a:r>
            <a:rPr lang="pl-PL" sz="1800" kern="1200" dirty="0" smtClean="0"/>
            <a:t> ze strony przeciwnej. Obie strony ustalają między sobą warunki </a:t>
          </a:r>
          <a:r>
            <a:rPr lang="pl-PL" sz="1800" kern="1200" dirty="0" err="1" smtClean="0"/>
            <a:t>tranzakcji</a:t>
          </a:r>
          <a:r>
            <a:rPr lang="pl-PL" sz="1800" kern="1200" dirty="0" smtClean="0"/>
            <a:t> . </a:t>
          </a:r>
          <a:endParaRPr lang="pl-PL" sz="1800" kern="1200" dirty="0"/>
        </a:p>
      </dsp:txBody>
      <dsp:txXfrm>
        <a:off x="2884030" y="0"/>
        <a:ext cx="2271334" cy="1886673"/>
      </dsp:txXfrm>
    </dsp:sp>
    <dsp:sp modelId="{83592141-EAC6-4971-A35E-73599AA1E260}">
      <dsp:nvSpPr>
        <dsp:cNvPr id="0" name=""/>
        <dsp:cNvSpPr/>
      </dsp:nvSpPr>
      <dsp:spPr>
        <a:xfrm rot="64962">
          <a:off x="5155274" y="931417"/>
          <a:ext cx="1015377" cy="43024"/>
        </a:xfrm>
        <a:custGeom>
          <a:avLst/>
          <a:gdLst/>
          <a:ahLst/>
          <a:cxnLst/>
          <a:rect l="0" t="0" r="0" b="0"/>
          <a:pathLst>
            <a:path>
              <a:moveTo>
                <a:pt x="0" y="21512"/>
              </a:moveTo>
              <a:lnTo>
                <a:pt x="1015377" y="215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kern="1200"/>
        </a:p>
      </dsp:txBody>
      <dsp:txXfrm rot="64962">
        <a:off x="5637578" y="927545"/>
        <a:ext cx="50768" cy="50768"/>
      </dsp:txXfrm>
    </dsp:sp>
    <dsp:sp modelId="{15DAB5F9-480B-4F44-B028-F008791F1A38}">
      <dsp:nvSpPr>
        <dsp:cNvPr id="0" name=""/>
        <dsp:cNvSpPr/>
      </dsp:nvSpPr>
      <dsp:spPr>
        <a:xfrm>
          <a:off x="6170561" y="0"/>
          <a:ext cx="1895447" cy="19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800" kern="1200" dirty="0" smtClean="0"/>
            <a:t>Jeśli nie dojdzie do </a:t>
          </a:r>
          <a:r>
            <a:rPr lang="pl-PL" sz="1800" kern="1200" dirty="0" err="1" smtClean="0"/>
            <a:t>tranzakcji</a:t>
          </a:r>
          <a:r>
            <a:rPr lang="pl-PL" sz="1800" kern="1200" dirty="0" smtClean="0"/>
            <a:t> to broker przekazuje zlecenie </a:t>
          </a:r>
          <a:r>
            <a:rPr lang="pl-PL" sz="1800" b="1" kern="1200" dirty="0" smtClean="0"/>
            <a:t>maklerowi prowadzącemu rejestr zleceń</a:t>
          </a:r>
          <a:endParaRPr lang="pl-PL" sz="1800" b="1" kern="1200" dirty="0"/>
        </a:p>
      </dsp:txBody>
      <dsp:txXfrm>
        <a:off x="6170561" y="0"/>
        <a:ext cx="1895447" cy="1925045"/>
      </dsp:txXfrm>
    </dsp:sp>
    <dsp:sp modelId="{44DFD7B3-582A-4201-A756-11EE50727361}">
      <dsp:nvSpPr>
        <dsp:cNvPr id="0" name=""/>
        <dsp:cNvSpPr/>
      </dsp:nvSpPr>
      <dsp:spPr>
        <a:xfrm rot="3731838">
          <a:off x="1730172" y="2694125"/>
          <a:ext cx="1671608" cy="43024"/>
        </a:xfrm>
        <a:custGeom>
          <a:avLst/>
          <a:gdLst/>
          <a:ahLst/>
          <a:cxnLst/>
          <a:rect l="0" t="0" r="0" b="0"/>
          <a:pathLst>
            <a:path>
              <a:moveTo>
                <a:pt x="0" y="21512"/>
              </a:moveTo>
              <a:lnTo>
                <a:pt x="1671608" y="215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kern="1200"/>
        </a:p>
      </dsp:txBody>
      <dsp:txXfrm rot="3731838">
        <a:off x="2524186" y="2673847"/>
        <a:ext cx="83580" cy="83580"/>
      </dsp:txXfrm>
    </dsp:sp>
    <dsp:sp modelId="{2037C5FD-95CA-4743-84F9-59326A1B2061}">
      <dsp:nvSpPr>
        <dsp:cNvPr id="0" name=""/>
        <dsp:cNvSpPr/>
      </dsp:nvSpPr>
      <dsp:spPr>
        <a:xfrm>
          <a:off x="2955819" y="2383948"/>
          <a:ext cx="2169384" cy="21420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800" b="1" kern="1200" dirty="0" smtClean="0"/>
            <a:t>Broker</a:t>
          </a:r>
          <a:r>
            <a:rPr lang="pl-PL" sz="1800" kern="1200" dirty="0" smtClean="0"/>
            <a:t> idzie do </a:t>
          </a:r>
          <a:r>
            <a:rPr lang="pl-PL" sz="1800" i="1" kern="1200" dirty="0" smtClean="0"/>
            <a:t>market </a:t>
          </a:r>
          <a:r>
            <a:rPr lang="pl-PL" sz="1800" i="1" kern="1200" dirty="0" err="1" smtClean="0"/>
            <a:t>makera</a:t>
          </a:r>
          <a:r>
            <a:rPr lang="pl-PL" sz="1800" i="1" kern="1200" dirty="0" smtClean="0"/>
            <a:t>. Market </a:t>
          </a:r>
          <a:r>
            <a:rPr lang="pl-PL" sz="1800" i="1" kern="1200" dirty="0" err="1" smtClean="0"/>
            <a:t>maker</a:t>
          </a:r>
          <a:r>
            <a:rPr lang="pl-PL" sz="1800" i="1" kern="1200" dirty="0" smtClean="0"/>
            <a:t> </a:t>
          </a:r>
          <a:r>
            <a:rPr lang="pl-PL" sz="1800" i="0" kern="1200" dirty="0" smtClean="0"/>
            <a:t>ustala cenę </a:t>
          </a:r>
          <a:r>
            <a:rPr lang="pl-PL" sz="1800" i="0" kern="1200" dirty="0" err="1" smtClean="0"/>
            <a:t>tranzakcji</a:t>
          </a:r>
          <a:r>
            <a:rPr lang="pl-PL" sz="1800" i="0" kern="1200" dirty="0" smtClean="0"/>
            <a:t> uwzględniając standardy giełdy (uwzględnia tzw. widełki cenowe)</a:t>
          </a:r>
          <a:endParaRPr lang="pl-PL" sz="1800" i="1" kern="1200" dirty="0"/>
        </a:p>
      </dsp:txBody>
      <dsp:txXfrm>
        <a:off x="2955819" y="2383948"/>
        <a:ext cx="2169384" cy="2142014"/>
      </dsp:txXfrm>
    </dsp:sp>
    <dsp:sp modelId="{1E218DA7-D378-47DF-A821-1B5789066FC4}">
      <dsp:nvSpPr>
        <dsp:cNvPr id="0" name=""/>
        <dsp:cNvSpPr/>
      </dsp:nvSpPr>
      <dsp:spPr>
        <a:xfrm rot="108971">
          <a:off x="5124987" y="3447106"/>
          <a:ext cx="862228" cy="43024"/>
        </a:xfrm>
        <a:custGeom>
          <a:avLst/>
          <a:gdLst/>
          <a:ahLst/>
          <a:cxnLst/>
          <a:rect l="0" t="0" r="0" b="0"/>
          <a:pathLst>
            <a:path>
              <a:moveTo>
                <a:pt x="0" y="21512"/>
              </a:moveTo>
              <a:lnTo>
                <a:pt x="862228" y="215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l-PL" sz="500" kern="1200"/>
        </a:p>
      </dsp:txBody>
      <dsp:txXfrm rot="108971">
        <a:off x="5534545" y="3447063"/>
        <a:ext cx="43111" cy="43111"/>
      </dsp:txXfrm>
    </dsp:sp>
    <dsp:sp modelId="{328FC4EA-765D-4D62-B327-50B4203F2F6A}">
      <dsp:nvSpPr>
        <dsp:cNvPr id="0" name=""/>
        <dsp:cNvSpPr/>
      </dsp:nvSpPr>
      <dsp:spPr>
        <a:xfrm>
          <a:off x="5986999" y="2438601"/>
          <a:ext cx="2150365" cy="20873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l-PL" sz="1800" kern="1200" dirty="0" smtClean="0"/>
            <a:t>Jeśli nie dojdzie do </a:t>
          </a:r>
          <a:r>
            <a:rPr lang="pl-PL" sz="1800" kern="1200" dirty="0" err="1" smtClean="0"/>
            <a:t>tranzakcji</a:t>
          </a:r>
          <a:r>
            <a:rPr lang="pl-PL" sz="1800" kern="1200" dirty="0" smtClean="0"/>
            <a:t> to broker przekazuje zlecenie </a:t>
          </a:r>
          <a:r>
            <a:rPr lang="pl-PL" sz="1800" b="1" kern="1200" dirty="0" smtClean="0"/>
            <a:t>maklerowi prowadzącemu rejestr zleceń</a:t>
          </a:r>
          <a:endParaRPr lang="pl-PL" sz="1800" kern="1200" dirty="0"/>
        </a:p>
      </dsp:txBody>
      <dsp:txXfrm>
        <a:off x="5986999" y="2438601"/>
        <a:ext cx="2150365" cy="20873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F2570-0C21-4F30-94E1-F08975A8567E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0F0FD-584A-4E6A-A378-9FB385B02227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0D5BB-980B-4752-A957-5CF9EE8863DB}" type="datetimeFigureOut">
              <a:rPr lang="pl-PL" smtClean="0"/>
              <a:pPr/>
              <a:t>2012-12-17</a:t>
            </a:fld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A7ECA-2329-4F03-8366-ACBCDE8A75A6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MECHANIZMY DZIAŁANIA RYNKÓW OPCJI-OBLICZANIE CEN OPCJI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Terminologia-przypomnienie</a:t>
            </a:r>
            <a:endParaRPr lang="pl-PL" dirty="0"/>
          </a:p>
        </p:txBody>
      </p:sp>
      <p:graphicFrame>
        <p:nvGraphicFramePr>
          <p:cNvPr id="5" name="Symbol zastępczy zawartości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536"/>
                <a:gridCol w="6491064"/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Pojęcie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Znaczenie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smtClean="0"/>
                        <a:t>Cena opcji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Bezzwrotna</a:t>
                      </a:r>
                      <a:r>
                        <a:rPr lang="pl-PL" baseline="0" dirty="0" smtClean="0"/>
                        <a:t> opłata którą nabywca płaci wystawcy, lub w przypadku rynku wtórnego poprzedniemu posiadaczowi.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smtClean="0"/>
                        <a:t>Cena wykonania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baseline="0" dirty="0" smtClean="0"/>
                        <a:t>Umówiona cena aktywa pierwotnego w przypadku realizacji opcji 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Data wygaśnięcia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Termin lub przedział</a:t>
                      </a:r>
                      <a:r>
                        <a:rPr lang="pl-PL" baseline="0" dirty="0" smtClean="0"/>
                        <a:t> czasowy w którym opcja może być zrealizowana </a:t>
                      </a:r>
                      <a:endParaRPr lang="pl-PL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Terminologia c.d.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Opcje zakupu (opcja typu </a:t>
            </a:r>
            <a:r>
              <a:rPr lang="pl-PL" i="1" dirty="0" err="1" smtClean="0"/>
              <a:t>call</a:t>
            </a:r>
            <a:r>
              <a:rPr lang="pl-PL" dirty="0" smtClean="0"/>
              <a:t>)</a:t>
            </a:r>
          </a:p>
          <a:p>
            <a:r>
              <a:rPr lang="pl-PL" dirty="0" smtClean="0"/>
              <a:t>Opcje sprzedaży (opcja typu </a:t>
            </a:r>
            <a:r>
              <a:rPr lang="pl-PL" i="1" dirty="0" err="1" smtClean="0"/>
              <a:t>put</a:t>
            </a:r>
            <a:r>
              <a:rPr lang="pl-PL" dirty="0" smtClean="0"/>
              <a:t>)</a:t>
            </a:r>
          </a:p>
          <a:p>
            <a:r>
              <a:rPr lang="pl-PL" b="1" u="sng" dirty="0" smtClean="0"/>
              <a:t>Opcje amerykańskie </a:t>
            </a:r>
            <a:r>
              <a:rPr lang="pl-PL" dirty="0" smtClean="0"/>
              <a:t>– mogą być realizowane w dowolnym momencie przed terminem wygaśnięcia (częściej stosowane)</a:t>
            </a:r>
          </a:p>
          <a:p>
            <a:r>
              <a:rPr lang="pl-PL" b="1" u="sng" dirty="0" smtClean="0"/>
              <a:t>Opcje europejskie </a:t>
            </a:r>
            <a:r>
              <a:rPr lang="pl-PL" b="1" dirty="0" smtClean="0"/>
              <a:t>- </a:t>
            </a:r>
            <a:r>
              <a:rPr lang="pl-PL" dirty="0" smtClean="0"/>
              <a:t>mogą być realizowane tylko w terminie wygaśnięcia</a:t>
            </a:r>
          </a:p>
          <a:p>
            <a:endParaRPr lang="pl-PL" dirty="0" smtClean="0"/>
          </a:p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778098"/>
          </a:xfrm>
        </p:spPr>
        <p:txBody>
          <a:bodyPr/>
          <a:lstStyle/>
          <a:p>
            <a:r>
              <a:rPr lang="pl-PL" dirty="0" smtClean="0"/>
              <a:t>Obrót opcjami na rynku giełdowym</a:t>
            </a:r>
            <a:endParaRPr lang="pl-PL" dirty="0"/>
          </a:p>
        </p:txBody>
      </p:sp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</p:nvPr>
        </p:nvGraphicFramePr>
        <p:xfrm>
          <a:off x="467544" y="2132856"/>
          <a:ext cx="8291264" cy="3196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5632"/>
                <a:gridCol w="4145632"/>
              </a:tblGrid>
              <a:tr h="411087">
                <a:tc>
                  <a:txBody>
                    <a:bodyPr/>
                    <a:lstStyle/>
                    <a:p>
                      <a:r>
                        <a:rPr lang="pl-PL" dirty="0" smtClean="0"/>
                        <a:t>Kto</a:t>
                      </a:r>
                      <a:r>
                        <a:rPr lang="pl-PL" baseline="0" dirty="0" smtClean="0"/>
                        <a:t> ułatwi nam obrót opcjami?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Zadanie</a:t>
                      </a:r>
                      <a:endParaRPr lang="pl-PL" dirty="0"/>
                    </a:p>
                  </a:txBody>
                  <a:tcPr/>
                </a:tc>
              </a:tr>
              <a:tr h="957066">
                <a:tc>
                  <a:txBody>
                    <a:bodyPr/>
                    <a:lstStyle/>
                    <a:p>
                      <a:r>
                        <a:rPr lang="pl-PL" i="1" dirty="0" smtClean="0"/>
                        <a:t>Market </a:t>
                      </a:r>
                      <a:r>
                        <a:rPr lang="pl-PL" i="1" dirty="0" err="1" smtClean="0"/>
                        <a:t>maker</a:t>
                      </a:r>
                      <a:endParaRPr lang="pl-PL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Osoba która zajmuje się kupnem i sprzedażą opcji. Jego zadaniem</a:t>
                      </a:r>
                      <a:r>
                        <a:rPr lang="pl-PL" baseline="0" dirty="0" smtClean="0"/>
                        <a:t> jest ustalenie cen kupna i sprzedaży opcji.</a:t>
                      </a:r>
                    </a:p>
                  </a:txBody>
                  <a:tcPr/>
                </a:tc>
              </a:tr>
              <a:tr h="411087">
                <a:tc>
                  <a:txBody>
                    <a:bodyPr/>
                    <a:lstStyle/>
                    <a:p>
                      <a:r>
                        <a:rPr lang="pl-PL" dirty="0" smtClean="0"/>
                        <a:t>Brokerzy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Pośredniczą</a:t>
                      </a:r>
                      <a:r>
                        <a:rPr lang="pl-PL" baseline="0" dirty="0" smtClean="0"/>
                        <a:t> w zawieraniu </a:t>
                      </a:r>
                      <a:r>
                        <a:rPr lang="pl-PL" baseline="0" dirty="0" err="1" smtClean="0"/>
                        <a:t>tranzakcji</a:t>
                      </a:r>
                      <a:r>
                        <a:rPr lang="pl-PL" baseline="0" dirty="0" smtClean="0"/>
                        <a:t> przez osoby niebędące członkami giełdy</a:t>
                      </a:r>
                      <a:endParaRPr lang="pl-PL" dirty="0"/>
                    </a:p>
                  </a:txBody>
                  <a:tcPr/>
                </a:tc>
              </a:tr>
              <a:tr h="411087">
                <a:tc>
                  <a:txBody>
                    <a:bodyPr/>
                    <a:lstStyle/>
                    <a:p>
                      <a:r>
                        <a:rPr lang="pl-PL" dirty="0" smtClean="0"/>
                        <a:t>Makler</a:t>
                      </a:r>
                      <a:r>
                        <a:rPr lang="pl-PL" baseline="0" dirty="0" smtClean="0"/>
                        <a:t> prowadzący rejestr zleceń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Wprowadza niezrealizowane zlecenia do systemu komputerowego, zapewniając wykonanie gdy tylko cena będzie taka jaką oczekuje inwestor</a:t>
                      </a:r>
                      <a:endParaRPr lang="pl-PL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i="1" dirty="0" smtClean="0"/>
              <a:t>Market </a:t>
            </a:r>
            <a:r>
              <a:rPr lang="pl-PL" i="1" dirty="0" err="1" smtClean="0"/>
              <a:t>maker</a:t>
            </a:r>
            <a:endParaRPr lang="pl-PL" i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l-PL" b="1" dirty="0" smtClean="0"/>
              <a:t>Ustala ceny:</a:t>
            </a:r>
          </a:p>
          <a:p>
            <a:r>
              <a:rPr lang="pl-PL" b="1" dirty="0" smtClean="0"/>
              <a:t>zakupu</a:t>
            </a:r>
            <a:r>
              <a:rPr lang="pl-PL" dirty="0" smtClean="0"/>
              <a:t> danej opcji (bid), czyli ceny po jakiej </a:t>
            </a:r>
            <a:r>
              <a:rPr lang="pl-PL" i="1" dirty="0" smtClean="0"/>
              <a:t>market </a:t>
            </a:r>
            <a:r>
              <a:rPr lang="pl-PL" i="1" dirty="0" err="1" smtClean="0"/>
              <a:t>maker</a:t>
            </a:r>
            <a:r>
              <a:rPr lang="pl-PL" i="1" dirty="0" smtClean="0"/>
              <a:t> </a:t>
            </a:r>
            <a:r>
              <a:rPr lang="pl-PL" dirty="0" smtClean="0"/>
              <a:t>jest w stanie kupić daną opcję</a:t>
            </a:r>
          </a:p>
          <a:p>
            <a:r>
              <a:rPr lang="pl-PL" b="1" dirty="0" smtClean="0"/>
              <a:t>sprzedaży</a:t>
            </a:r>
            <a:r>
              <a:rPr lang="pl-PL" dirty="0" smtClean="0"/>
              <a:t> (</a:t>
            </a:r>
            <a:r>
              <a:rPr lang="pl-PL" dirty="0" err="1" smtClean="0"/>
              <a:t>ask</a:t>
            </a:r>
            <a:r>
              <a:rPr lang="pl-PL" dirty="0" smtClean="0"/>
              <a:t>), czyli ceny po jakiej </a:t>
            </a:r>
            <a:r>
              <a:rPr lang="pl-PL" i="1" dirty="0" smtClean="0"/>
              <a:t>market </a:t>
            </a:r>
            <a:r>
              <a:rPr lang="pl-PL" i="1" dirty="0" err="1" smtClean="0"/>
              <a:t>maker</a:t>
            </a:r>
            <a:r>
              <a:rPr lang="pl-PL" i="1" dirty="0" smtClean="0"/>
              <a:t> </a:t>
            </a:r>
            <a:r>
              <a:rPr lang="pl-PL" dirty="0" smtClean="0"/>
              <a:t>jest w stanie sprzedać daną opcję</a:t>
            </a:r>
          </a:p>
          <a:p>
            <a:pPr>
              <a:buNone/>
            </a:pPr>
            <a:r>
              <a:rPr lang="pl-PL" u="sng" dirty="0" smtClean="0"/>
              <a:t>Obie ceny opcji są zawarte w tzw. „widełkach” podanych przez giełdę. </a:t>
            </a:r>
            <a:r>
              <a:rPr lang="pl-PL" i="1" u="sng" dirty="0" smtClean="0"/>
              <a:t>Market </a:t>
            </a:r>
            <a:r>
              <a:rPr lang="pl-PL" i="1" u="sng" dirty="0" err="1" smtClean="0"/>
              <a:t>maker</a:t>
            </a:r>
            <a:r>
              <a:rPr lang="pl-PL" i="1" u="sng" dirty="0" smtClean="0"/>
              <a:t> </a:t>
            </a:r>
            <a:r>
              <a:rPr lang="pl-PL" u="sng" dirty="0" smtClean="0"/>
              <a:t>wybiera ceny z „widełek”. Cena sprzedaży zawsze większa niż kupna (wyjaśnij dlaczego).</a:t>
            </a:r>
          </a:p>
          <a:p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Makler prowadzący rejestr zleceń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 smtClean="0"/>
              <a:t>Inwestor podał brokerowi zlecenie na zakup/sprzedaż opcji po cenie z limitem. </a:t>
            </a:r>
          </a:p>
          <a:p>
            <a:r>
              <a:rPr lang="pl-PL" b="1" dirty="0" smtClean="0"/>
              <a:t>Brokerowi</a:t>
            </a:r>
            <a:r>
              <a:rPr lang="pl-PL" dirty="0" smtClean="0"/>
              <a:t> nie udało się zrealizować ceny, bo  </a:t>
            </a:r>
            <a:r>
              <a:rPr lang="pl-PL" b="1" i="1" dirty="0" smtClean="0"/>
              <a:t>Market </a:t>
            </a:r>
            <a:r>
              <a:rPr lang="pl-PL" b="1" i="1" dirty="0" err="1" smtClean="0"/>
              <a:t>maker</a:t>
            </a:r>
            <a:r>
              <a:rPr lang="pl-PL" b="1" i="1" dirty="0" smtClean="0"/>
              <a:t> </a:t>
            </a:r>
            <a:r>
              <a:rPr lang="pl-PL" dirty="0" smtClean="0"/>
              <a:t>podał ceny, które inwestora nie satysfakcjonują.</a:t>
            </a:r>
          </a:p>
          <a:p>
            <a:r>
              <a:rPr lang="pl-PL" dirty="0" smtClean="0"/>
              <a:t>Wtedy broker może przekazać zlecenie </a:t>
            </a:r>
            <a:r>
              <a:rPr lang="pl-PL" b="1" i="1" dirty="0" smtClean="0"/>
              <a:t>maklerowi prowadzącemu rejestr zleceń</a:t>
            </a:r>
            <a:r>
              <a:rPr lang="pl-PL" i="1" dirty="0" smtClean="0"/>
              <a:t>, </a:t>
            </a:r>
            <a:r>
              <a:rPr lang="pl-PL" dirty="0" smtClean="0"/>
              <a:t>a on zrealizuje zlecenie przy najbliższej nadarzającej się okazji.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Schemat obrotu opcjami</a:t>
            </a:r>
            <a:endParaRPr lang="pl-PL" dirty="0"/>
          </a:p>
        </p:txBody>
      </p:sp>
      <p:graphicFrame>
        <p:nvGraphicFramePr>
          <p:cNvPr id="8" name="Symbol zastępczy zawartości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Depozyt zabezpieczający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Wystawca opcji musi zamrozić pewną kwotę swoich pieniędzy w ramach </a:t>
            </a:r>
            <a:r>
              <a:rPr lang="pl-PL" b="1" dirty="0" smtClean="0"/>
              <a:t>depozytu zabezpieczającego.</a:t>
            </a:r>
          </a:p>
          <a:p>
            <a:r>
              <a:rPr lang="pl-PL" dirty="0" smtClean="0"/>
              <a:t>Ma on zapewnić wywiązanie się ze zobowiązań wobec nabywcy opcji.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i="1" dirty="0" err="1" smtClean="0"/>
              <a:t>Tranzakcje</a:t>
            </a:r>
            <a:r>
              <a:rPr lang="pl-PL" i="1" dirty="0" smtClean="0"/>
              <a:t> typu „</a:t>
            </a:r>
            <a:r>
              <a:rPr lang="pl-PL" i="1" dirty="0" err="1" smtClean="0"/>
              <a:t>wash</a:t>
            </a:r>
            <a:r>
              <a:rPr lang="pl-PL" i="1" dirty="0" smtClean="0"/>
              <a:t> sale” w USA</a:t>
            </a:r>
            <a:endParaRPr lang="pl-PL" i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 smtClean="0"/>
              <a:t>Przykładowo inwestor kupuje akcje za 60$</a:t>
            </a:r>
          </a:p>
          <a:p>
            <a:r>
              <a:rPr lang="pl-PL" dirty="0" smtClean="0"/>
              <a:t>Po pewnym czasie cena akcji spada do 40$</a:t>
            </a:r>
          </a:p>
          <a:p>
            <a:r>
              <a:rPr lang="pl-PL" dirty="0" smtClean="0"/>
              <a:t>Inwestor sprzedaje akcję i notuje stratę 20$ za akcję. Odlicza to sobie od podatku.</a:t>
            </a:r>
          </a:p>
          <a:p>
            <a:r>
              <a:rPr lang="pl-PL" dirty="0" smtClean="0"/>
              <a:t>Ale za chwilę znowu odkupuje akcję za 40$</a:t>
            </a:r>
          </a:p>
          <a:p>
            <a:r>
              <a:rPr lang="pl-PL" b="1" dirty="0" smtClean="0"/>
              <a:t>Tak być nie może, bo inaczej wszyscy będą sobie odliczać od podatku każde straty z tytułu posiadanych akcji. Tym bardziej, że inwestor w przyszłości może wyjść na „+”.</a:t>
            </a:r>
            <a:endParaRPr lang="pl-PL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i="1" dirty="0" err="1" smtClean="0"/>
              <a:t>Tranzakcje</a:t>
            </a:r>
            <a:r>
              <a:rPr lang="pl-PL" i="1" dirty="0" smtClean="0"/>
              <a:t> typu „</a:t>
            </a:r>
            <a:r>
              <a:rPr lang="pl-PL" i="1" dirty="0" err="1" smtClean="0"/>
              <a:t>wash</a:t>
            </a:r>
            <a:r>
              <a:rPr lang="pl-PL" i="1" dirty="0" smtClean="0"/>
              <a:t> sale” w USA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Aby ten problem rozwiązać, wprowadzono przepis mówiący o tym że zawarcie przeciwnych </a:t>
            </a:r>
            <a:r>
              <a:rPr lang="pl-PL" dirty="0" err="1" smtClean="0"/>
              <a:t>tranzakcji</a:t>
            </a:r>
            <a:r>
              <a:rPr lang="pl-PL" dirty="0" smtClean="0"/>
              <a:t> w przeciągu 30 dni uniemożliwia odliczenie straty od podatku.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Opcje na rynku pozagiełdowym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Opcje na waluty</a:t>
            </a:r>
          </a:p>
          <a:p>
            <a:r>
              <a:rPr lang="pl-PL" dirty="0" smtClean="0"/>
              <a:t>Opcje na stopy procentowe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Obliczanie cen opcji na akcje firm nie wypłacających dywidendy - notacja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pl-PL" dirty="0" smtClean="0"/>
              <a:t>S - aktualna cena akcji</a:t>
            </a:r>
          </a:p>
          <a:p>
            <a:pPr>
              <a:buNone/>
            </a:pPr>
            <a:r>
              <a:rPr lang="pl-PL" dirty="0" smtClean="0"/>
              <a:t>S</a:t>
            </a:r>
            <a:r>
              <a:rPr lang="pl-PL" baseline="-25000" dirty="0" smtClean="0"/>
              <a:t>T</a:t>
            </a:r>
            <a:r>
              <a:rPr lang="pl-PL" dirty="0" smtClean="0"/>
              <a:t> - cena akcji w chwili T</a:t>
            </a:r>
          </a:p>
          <a:p>
            <a:pPr>
              <a:buNone/>
            </a:pPr>
            <a:r>
              <a:rPr lang="pl-PL" dirty="0" smtClean="0"/>
              <a:t>X - cena wykonania opcji</a:t>
            </a:r>
          </a:p>
          <a:p>
            <a:pPr>
              <a:buNone/>
            </a:pPr>
            <a:r>
              <a:rPr lang="pl-PL" dirty="0" err="1" smtClean="0"/>
              <a:t>r</a:t>
            </a:r>
            <a:r>
              <a:rPr lang="pl-PL" dirty="0" smtClean="0"/>
              <a:t> - stopa wolna od ryzyka (lokata wygasa po czasie T)</a:t>
            </a:r>
          </a:p>
          <a:p>
            <a:pPr>
              <a:buNone/>
            </a:pPr>
            <a:r>
              <a:rPr lang="pl-PL" dirty="0" smtClean="0"/>
              <a:t>C - wartość amerykańskiej opcji kupna opiewającej na jedną akcję</a:t>
            </a:r>
          </a:p>
          <a:p>
            <a:pPr>
              <a:buNone/>
            </a:pPr>
            <a:r>
              <a:rPr lang="pl-PL" dirty="0" smtClean="0"/>
              <a:t>P - wartość amerykańskiej opcji sprzedaży opiewającej na jedną akcję</a:t>
            </a:r>
          </a:p>
          <a:p>
            <a:pPr>
              <a:buNone/>
            </a:pPr>
            <a:r>
              <a:rPr lang="pl-PL" dirty="0" smtClean="0"/>
              <a:t>c - wartość europejskiej opcji kupna opiewającej na jedną akcję</a:t>
            </a:r>
          </a:p>
          <a:p>
            <a:pPr>
              <a:buNone/>
            </a:pPr>
            <a:r>
              <a:rPr lang="pl-PL" dirty="0" smtClean="0"/>
              <a:t>p - wartość europejskiej opcji sprzedaży opiewającej na jedną akcję</a:t>
            </a:r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 odróżnieniu od kontraktu terminowego wartość opcji nie jest jednoznaczna</a:t>
            </a:r>
          </a:p>
          <a:p>
            <a:r>
              <a:rPr lang="pl-PL" dirty="0" smtClean="0"/>
              <a:t>tzn. występuje w przedziale [</a:t>
            </a:r>
            <a:r>
              <a:rPr lang="pl-PL" dirty="0" err="1" smtClean="0"/>
              <a:t>a,b</a:t>
            </a:r>
            <a:r>
              <a:rPr lang="pl-PL" dirty="0" smtClean="0"/>
              <a:t>]</a:t>
            </a:r>
          </a:p>
          <a:p>
            <a:r>
              <a:rPr lang="pl-PL" dirty="0" smtClean="0"/>
              <a:t>Jeśli cena opcji znajdzie się poza tym przedziałem będzie możliwa </a:t>
            </a:r>
            <a:r>
              <a:rPr lang="pl-PL" dirty="0" err="1" smtClean="0"/>
              <a:t>tranzakcja</a:t>
            </a:r>
            <a:r>
              <a:rPr lang="pl-PL" dirty="0" smtClean="0"/>
              <a:t> arbitrażowa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Górne ograniczenia dla wartości opcji kupna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 smtClean="0"/>
              <a:t>Cena opcji kupna nie może przekroczyć aktualnej  ceny akcji </a:t>
            </a:r>
          </a:p>
          <a:p>
            <a:r>
              <a:rPr lang="pl-PL" dirty="0" smtClean="0"/>
              <a:t>Czyli:</a:t>
            </a:r>
          </a:p>
          <a:p>
            <a:pPr algn="ctr">
              <a:buNone/>
            </a:pPr>
            <a:r>
              <a:rPr lang="pl-PL" dirty="0" err="1" smtClean="0"/>
              <a:t>C≤S</a:t>
            </a:r>
            <a:r>
              <a:rPr lang="pl-PL" dirty="0" smtClean="0"/>
              <a:t> oraz </a:t>
            </a:r>
            <a:r>
              <a:rPr lang="pl-PL" dirty="0" err="1" smtClean="0"/>
              <a:t>c≤S</a:t>
            </a:r>
            <a:endParaRPr lang="pl-PL" dirty="0" smtClean="0"/>
          </a:p>
          <a:p>
            <a:pPr algn="just"/>
            <a:r>
              <a:rPr lang="pl-PL" dirty="0" smtClean="0"/>
              <a:t>Jeśli powyższe nierówności są niespełnione możliwe są strategie arbitrażowe: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c&gt;S</a:t>
            </a:r>
            <a:r>
              <a:rPr lang="pl-PL" dirty="0" smtClean="0"/>
              <a:t>, lub </a:t>
            </a:r>
            <a:r>
              <a:rPr lang="pl-PL" dirty="0" err="1" smtClean="0"/>
              <a:t>C&gt;S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 smtClean="0"/>
              <a:t>Sprzedać opcję kupna po cenie c (dla ustalenia uwagi) i wtedy zarabiamy ‘’c’’</a:t>
            </a:r>
          </a:p>
          <a:p>
            <a:r>
              <a:rPr lang="pl-PL" dirty="0" smtClean="0"/>
              <a:t>Kupić akcję po cenie S i wtedy mamy „c-S”</a:t>
            </a:r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r>
              <a:rPr lang="pl-PL" dirty="0" smtClean="0"/>
              <a:t>Wariant 1: nabywca wykona opcję więc sprzedamy mu akcję po cenie wykonania i mamy „</a:t>
            </a:r>
            <a:r>
              <a:rPr lang="pl-PL" dirty="0" err="1" smtClean="0"/>
              <a:t>c-S+X</a:t>
            </a:r>
            <a:r>
              <a:rPr lang="pl-PL" dirty="0" smtClean="0"/>
              <a:t>”</a:t>
            </a:r>
          </a:p>
          <a:p>
            <a:pPr>
              <a:buNone/>
            </a:pPr>
            <a:r>
              <a:rPr lang="pl-PL" dirty="0" smtClean="0"/>
              <a:t>Wariant 2: nabywca nie wykona opcji więc sprzedamy ją po cenie rynkowej i mamy „c-S+S</a:t>
            </a:r>
            <a:r>
              <a:rPr lang="pl-PL" baseline="-25000" dirty="0" smtClean="0"/>
              <a:t>T</a:t>
            </a:r>
            <a:r>
              <a:rPr lang="pl-PL" dirty="0" smtClean="0"/>
              <a:t>”</a:t>
            </a:r>
          </a:p>
          <a:p>
            <a:pPr>
              <a:buNone/>
            </a:pPr>
            <a:r>
              <a:rPr lang="pl-PL" dirty="0" smtClean="0"/>
              <a:t>Mamy więc zysk bez ryzyka „c-S+…”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Górne ograniczenia dla wartości opcji sprzedaży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Ani amerykańska ani europejska opcja sprzedaży nie może mieć wyższej ceny niż cena wykonania</a:t>
            </a:r>
          </a:p>
          <a:p>
            <a:r>
              <a:rPr lang="pl-PL" dirty="0" smtClean="0"/>
              <a:t>Czyli:</a:t>
            </a:r>
          </a:p>
          <a:p>
            <a:pPr algn="ctr">
              <a:buNone/>
            </a:pPr>
            <a:r>
              <a:rPr lang="pl-PL" dirty="0" err="1" smtClean="0"/>
              <a:t>p≤X</a:t>
            </a:r>
            <a:r>
              <a:rPr lang="pl-PL" dirty="0" smtClean="0"/>
              <a:t> oraz </a:t>
            </a:r>
            <a:r>
              <a:rPr lang="pl-PL" dirty="0" err="1" smtClean="0"/>
              <a:t>P≤X</a:t>
            </a: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p&gt;X</a:t>
            </a:r>
            <a:r>
              <a:rPr lang="pl-PL" dirty="0" smtClean="0"/>
              <a:t>, lub </a:t>
            </a:r>
            <a:r>
              <a:rPr lang="pl-PL" dirty="0" err="1" smtClean="0"/>
              <a:t>P&gt;X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 smtClean="0"/>
              <a:t>Sprzedaję opcję sprzedaży po cenie ‘’p’’ (za droga opcja, więc ją sprzedam)</a:t>
            </a:r>
          </a:p>
          <a:p>
            <a:endParaRPr lang="pl-PL" dirty="0" smtClean="0"/>
          </a:p>
          <a:p>
            <a:pPr>
              <a:buNone/>
            </a:pPr>
            <a:r>
              <a:rPr lang="pl-PL" dirty="0" smtClean="0"/>
              <a:t>Wariant 1. nabywca wykona opcję i kupimy od niego akcję po cenie X. Stan konta ‘’</a:t>
            </a:r>
            <a:r>
              <a:rPr lang="pl-PL" dirty="0" err="1" smtClean="0"/>
              <a:t>p-X</a:t>
            </a:r>
            <a:r>
              <a:rPr lang="pl-PL" dirty="0" smtClean="0"/>
              <a:t>’’ (możemy je powiększyć sprzedając </a:t>
            </a:r>
            <a:r>
              <a:rPr lang="pl-PL" dirty="0" err="1" smtClean="0"/>
              <a:t>zakupianą</a:t>
            </a:r>
            <a:r>
              <a:rPr lang="pl-PL" dirty="0" smtClean="0"/>
              <a:t> akcję)</a:t>
            </a:r>
          </a:p>
          <a:p>
            <a:pPr>
              <a:buNone/>
            </a:pPr>
            <a:r>
              <a:rPr lang="pl-PL" dirty="0" smtClean="0"/>
              <a:t>Wariant 2: nabywca nie wykona opcji i zostajemy z zyskiem „p”.</a:t>
            </a:r>
          </a:p>
          <a:p>
            <a:pPr>
              <a:buNone/>
            </a:pPr>
            <a:r>
              <a:rPr lang="pl-PL" dirty="0" smtClean="0"/>
              <a:t>Mamy więc zysk bez ryzyka co najmniej „</a:t>
            </a:r>
            <a:r>
              <a:rPr lang="pl-PL" dirty="0" err="1" smtClean="0"/>
              <a:t>p-X</a:t>
            </a:r>
            <a:r>
              <a:rPr lang="pl-PL" dirty="0" smtClean="0"/>
              <a:t>”</a:t>
            </a:r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Górne ograniczenia dla wartości opcji sprzedaży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 wypadku opcji europejskiej mamy</a:t>
            </a:r>
          </a:p>
          <a:p>
            <a:pPr algn="ctr">
              <a:buNone/>
            </a:pPr>
            <a:r>
              <a:rPr lang="pl-PL" dirty="0" smtClean="0"/>
              <a:t>p≤Xe</a:t>
            </a:r>
            <a:r>
              <a:rPr lang="pl-PL" baseline="30000" dirty="0" smtClean="0"/>
              <a:t>-r</a:t>
            </a:r>
            <a:endParaRPr lang="pl-PL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p&gt;Xe</a:t>
            </a:r>
            <a:r>
              <a:rPr lang="pl-PL" baseline="30000" dirty="0" err="1" smtClean="0"/>
              <a:t>-r*T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l-PL" dirty="0" smtClean="0"/>
              <a:t>Sprzedajemy opcję sprzedaży po cenie p (za droga opcja więc ją sprzedam)</a:t>
            </a:r>
          </a:p>
          <a:p>
            <a:r>
              <a:rPr lang="pl-PL" dirty="0" smtClean="0"/>
              <a:t>Zysk umieszczamy na lokacie i po czasie T mamy „</a:t>
            </a:r>
            <a:r>
              <a:rPr lang="pl-PL" dirty="0" err="1" smtClean="0"/>
              <a:t>p*e</a:t>
            </a:r>
            <a:r>
              <a:rPr lang="pl-PL" baseline="30000" dirty="0" err="1" smtClean="0"/>
              <a:t>r*T</a:t>
            </a:r>
            <a:r>
              <a:rPr lang="pl-PL" dirty="0" smtClean="0"/>
              <a:t>”</a:t>
            </a:r>
          </a:p>
          <a:p>
            <a:pPr>
              <a:buNone/>
            </a:pPr>
            <a:r>
              <a:rPr lang="pl-PL" dirty="0" smtClean="0"/>
              <a:t>Wariant 1. Nabywca wykona opcję, czyli kupimy od niego akcję po cenie X i mamy </a:t>
            </a:r>
          </a:p>
          <a:p>
            <a:pPr algn="ctr">
              <a:buNone/>
            </a:pPr>
            <a:r>
              <a:rPr lang="pl-PL" dirty="0" err="1" smtClean="0"/>
              <a:t>p*e</a:t>
            </a:r>
            <a:r>
              <a:rPr lang="pl-PL" baseline="30000" dirty="0" err="1" smtClean="0"/>
              <a:t>r*T</a:t>
            </a:r>
            <a:r>
              <a:rPr lang="pl-PL" dirty="0" err="1" smtClean="0"/>
              <a:t>-X=e</a:t>
            </a:r>
            <a:r>
              <a:rPr lang="pl-PL" baseline="30000" dirty="0" err="1" smtClean="0"/>
              <a:t>r*T</a:t>
            </a:r>
            <a:r>
              <a:rPr lang="pl-PL" dirty="0" smtClean="0"/>
              <a:t>(</a:t>
            </a:r>
            <a:r>
              <a:rPr lang="pl-PL" dirty="0" err="1" smtClean="0"/>
              <a:t>p-Xe</a:t>
            </a:r>
            <a:r>
              <a:rPr lang="pl-PL" baseline="30000" dirty="0" err="1" smtClean="0"/>
              <a:t>-r*T</a:t>
            </a:r>
            <a:r>
              <a:rPr lang="pl-PL" dirty="0" smtClean="0"/>
              <a:t>)&gt;0</a:t>
            </a:r>
          </a:p>
          <a:p>
            <a:pPr>
              <a:buNone/>
            </a:pPr>
            <a:r>
              <a:rPr lang="pl-PL" dirty="0" smtClean="0"/>
              <a:t>Wariant 2. Nabywca nie wykona opcji, czyli zostaniemy z zyskiem </a:t>
            </a:r>
            <a:r>
              <a:rPr lang="pl-PL" dirty="0" err="1" smtClean="0"/>
              <a:t>p*e</a:t>
            </a:r>
            <a:r>
              <a:rPr lang="pl-PL" baseline="30000" dirty="0" err="1" smtClean="0"/>
              <a:t>r*T</a:t>
            </a:r>
            <a:endParaRPr lang="pl-PL" baseline="30000" dirty="0" smtClean="0"/>
          </a:p>
          <a:p>
            <a:pPr>
              <a:buNone/>
            </a:pPr>
            <a:r>
              <a:rPr lang="pl-PL" dirty="0" smtClean="0"/>
              <a:t>Mamy więc zysk bez ryzyka co najmniej </a:t>
            </a:r>
          </a:p>
          <a:p>
            <a:pPr>
              <a:buNone/>
            </a:pPr>
            <a:r>
              <a:rPr lang="pl-PL" dirty="0" smtClean="0"/>
              <a:t>„</a:t>
            </a:r>
            <a:r>
              <a:rPr lang="pl-PL" dirty="0" err="1" smtClean="0"/>
              <a:t>e</a:t>
            </a:r>
            <a:r>
              <a:rPr lang="pl-PL" baseline="30000" dirty="0" err="1" smtClean="0"/>
              <a:t>r*T</a:t>
            </a:r>
            <a:r>
              <a:rPr lang="pl-PL" dirty="0" smtClean="0"/>
              <a:t>(</a:t>
            </a:r>
            <a:r>
              <a:rPr lang="pl-PL" dirty="0" err="1" smtClean="0"/>
              <a:t>p-Xe</a:t>
            </a:r>
            <a:r>
              <a:rPr lang="pl-PL" baseline="30000" dirty="0" err="1" smtClean="0"/>
              <a:t>-r*T</a:t>
            </a:r>
            <a:r>
              <a:rPr lang="pl-PL" dirty="0" smtClean="0"/>
              <a:t>)”</a:t>
            </a:r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Dolne ograniczenie dla europejskiej opcji kupna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pl-PL" dirty="0" err="1" smtClean="0"/>
              <a:t>c&gt;max</a:t>
            </a:r>
            <a:r>
              <a:rPr lang="pl-PL" dirty="0" smtClean="0"/>
              <a:t>(S-Xe</a:t>
            </a:r>
            <a:r>
              <a:rPr lang="pl-PL" baseline="30000" dirty="0" smtClean="0"/>
              <a:t>-rT</a:t>
            </a:r>
            <a:r>
              <a:rPr lang="pl-PL" dirty="0" smtClean="0"/>
              <a:t>,0)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Strategia arbitrażowa gdy c≤0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Wymyśl sam(a)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c≤S-Xe</a:t>
            </a:r>
            <a:r>
              <a:rPr lang="pl-PL" baseline="30000" dirty="0" err="1" smtClean="0"/>
              <a:t>-rT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 smtClean="0"/>
              <a:t>„Pożyczamy” akcję od brokera</a:t>
            </a:r>
          </a:p>
          <a:p>
            <a:r>
              <a:rPr lang="pl-PL" dirty="0" smtClean="0"/>
              <a:t>Sprzedajemy „pożyczoną” akcję po cenie „S”</a:t>
            </a:r>
          </a:p>
          <a:p>
            <a:r>
              <a:rPr lang="pl-PL" dirty="0" smtClean="0"/>
              <a:t>Kwotę „c” przeznaczamy na zakup opcji, a resztę dajemy na lokatę (za tania opcja więc ją kupuję). Po czasie T mamy  „(S-c)</a:t>
            </a:r>
            <a:r>
              <a:rPr lang="pl-PL" dirty="0" err="1" smtClean="0"/>
              <a:t>e</a:t>
            </a:r>
            <a:r>
              <a:rPr lang="pl-PL" baseline="30000" dirty="0" err="1" smtClean="0"/>
              <a:t>rT</a:t>
            </a:r>
            <a:r>
              <a:rPr lang="pl-PL" dirty="0" smtClean="0"/>
              <a:t>”</a:t>
            </a:r>
          </a:p>
          <a:p>
            <a:r>
              <a:rPr lang="pl-PL" dirty="0" smtClean="0"/>
              <a:t>Odkupujemy akcję i oddajemy brokerowi</a:t>
            </a:r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c≤S-Xe</a:t>
            </a:r>
            <a:r>
              <a:rPr lang="pl-PL" baseline="30000" dirty="0" err="1" smtClean="0"/>
              <a:t>-rT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l-PL" dirty="0" smtClean="0"/>
              <a:t>Wariant 1. Wykonamy opcję i kupimy akcję po cenie „X”. Wtedy mamy</a:t>
            </a:r>
          </a:p>
          <a:p>
            <a:pPr>
              <a:buNone/>
            </a:pPr>
            <a:r>
              <a:rPr lang="pl-PL" dirty="0" smtClean="0"/>
              <a:t>„(S-c)e</a:t>
            </a:r>
            <a:r>
              <a:rPr lang="pl-PL" baseline="30000" dirty="0" smtClean="0"/>
              <a:t>tT</a:t>
            </a:r>
            <a:r>
              <a:rPr lang="pl-PL" dirty="0" smtClean="0"/>
              <a:t>-X=(S-c-Xe</a:t>
            </a:r>
            <a:r>
              <a:rPr lang="pl-PL" baseline="30000" dirty="0" smtClean="0"/>
              <a:t>-tT</a:t>
            </a:r>
            <a:r>
              <a:rPr lang="pl-PL" dirty="0" smtClean="0"/>
              <a:t>)e</a:t>
            </a:r>
            <a:r>
              <a:rPr lang="pl-PL" baseline="30000" dirty="0" smtClean="0"/>
              <a:t>tT</a:t>
            </a:r>
            <a:r>
              <a:rPr lang="pl-PL" dirty="0" smtClean="0"/>
              <a:t>&gt;0”</a:t>
            </a:r>
          </a:p>
          <a:p>
            <a:pPr>
              <a:buNone/>
            </a:pPr>
            <a:r>
              <a:rPr lang="pl-PL" dirty="0" smtClean="0"/>
              <a:t>Wariant 2. Nie wykonamy opcji i kupimy akcję po cenie rynkowej, która nie przekroczy ceny wykonania wtedy zarobimy jeszcze więcej</a:t>
            </a:r>
          </a:p>
          <a:p>
            <a:pPr>
              <a:buNone/>
            </a:pPr>
            <a:r>
              <a:rPr lang="pl-PL" dirty="0" smtClean="0"/>
              <a:t>Mamy więc zysk bez ryzyka co najmniej </a:t>
            </a:r>
          </a:p>
          <a:p>
            <a:pPr algn="ctr">
              <a:buNone/>
            </a:pPr>
            <a:r>
              <a:rPr lang="pl-PL" dirty="0" smtClean="0"/>
              <a:t>„(S-c-Xe</a:t>
            </a:r>
            <a:r>
              <a:rPr lang="pl-PL" baseline="30000" dirty="0" smtClean="0"/>
              <a:t>-tT</a:t>
            </a:r>
            <a:r>
              <a:rPr lang="pl-PL" dirty="0" smtClean="0"/>
              <a:t>)e</a:t>
            </a:r>
            <a:r>
              <a:rPr lang="pl-PL" baseline="30000" dirty="0" smtClean="0"/>
              <a:t>tT</a:t>
            </a:r>
            <a:r>
              <a:rPr lang="pl-PL" dirty="0" smtClean="0"/>
              <a:t>&gt;0”</a:t>
            </a:r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 smtClean="0"/>
              <a:t>Dolne ograniczenie dla europejskiej opcji sprzedaży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pl-PL" dirty="0" smtClean="0"/>
              <a:t>p &gt; max(Xe</a:t>
            </a:r>
            <a:r>
              <a:rPr lang="pl-PL" baseline="30000" dirty="0" smtClean="0"/>
              <a:t>-rT</a:t>
            </a:r>
            <a:r>
              <a:rPr lang="pl-PL" dirty="0" smtClean="0"/>
              <a:t>-S,0)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Strategia arbitrażowa gdy p≤0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Wymyśl sam(a)</a:t>
            </a: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p&lt;Xe</a:t>
            </a:r>
            <a:r>
              <a:rPr lang="pl-PL" baseline="30000" dirty="0" err="1" smtClean="0"/>
              <a:t>-rT</a:t>
            </a:r>
            <a:r>
              <a:rPr lang="pl-PL" dirty="0" err="1" smtClean="0"/>
              <a:t>-S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smtClean="0"/>
              <a:t>Biorę kredyt w wysokości </a:t>
            </a:r>
            <a:r>
              <a:rPr lang="pl-PL" dirty="0" err="1" smtClean="0"/>
              <a:t>S+p</a:t>
            </a:r>
            <a:endParaRPr lang="pl-PL" dirty="0" smtClean="0"/>
          </a:p>
          <a:p>
            <a:r>
              <a:rPr lang="pl-PL" dirty="0" smtClean="0"/>
              <a:t>Kupuję akcję po cenie „S” i opcję po cenie „p” (jest tania więc ją kupuję)</a:t>
            </a:r>
          </a:p>
          <a:p>
            <a:r>
              <a:rPr lang="pl-PL" dirty="0" smtClean="0"/>
              <a:t>Sprzedaję akcję (wykonując opcję lub nie)</a:t>
            </a:r>
          </a:p>
          <a:p>
            <a:r>
              <a:rPr lang="pl-PL" dirty="0" smtClean="0"/>
              <a:t>Spłacam dług</a:t>
            </a:r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Strategia arbitrażowa gdy </a:t>
            </a:r>
            <a:r>
              <a:rPr lang="pl-PL" dirty="0" err="1" smtClean="0"/>
              <a:t>p&lt;Xe</a:t>
            </a:r>
            <a:r>
              <a:rPr lang="pl-PL" baseline="30000" dirty="0" err="1" smtClean="0"/>
              <a:t>-rT</a:t>
            </a:r>
            <a:r>
              <a:rPr lang="pl-PL" dirty="0" err="1" smtClean="0"/>
              <a:t>-S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l-PL" dirty="0" smtClean="0"/>
              <a:t>Wariant 1. Wykonamy opcję i sprzedamy akcję po cenie „X”. Wtedy po spłacie długu mamy</a:t>
            </a:r>
          </a:p>
          <a:p>
            <a:pPr>
              <a:buNone/>
            </a:pPr>
            <a:r>
              <a:rPr lang="pl-PL" dirty="0" smtClean="0"/>
              <a:t>„X-(</a:t>
            </a:r>
            <a:r>
              <a:rPr lang="pl-PL" dirty="0" err="1" smtClean="0"/>
              <a:t>S+p</a:t>
            </a:r>
            <a:r>
              <a:rPr lang="pl-PL" dirty="0" smtClean="0"/>
              <a:t>)</a:t>
            </a:r>
            <a:r>
              <a:rPr lang="pl-PL" dirty="0" err="1" smtClean="0"/>
              <a:t>e</a:t>
            </a:r>
            <a:r>
              <a:rPr lang="pl-PL" baseline="30000" dirty="0" err="1" smtClean="0"/>
              <a:t>rT</a:t>
            </a:r>
            <a:r>
              <a:rPr lang="pl-PL" dirty="0" smtClean="0"/>
              <a:t>=(</a:t>
            </a:r>
            <a:r>
              <a:rPr lang="pl-PL" dirty="0" err="1" smtClean="0"/>
              <a:t>Xe</a:t>
            </a:r>
            <a:r>
              <a:rPr lang="pl-PL" baseline="30000" dirty="0" err="1" smtClean="0"/>
              <a:t>-rT</a:t>
            </a:r>
            <a:r>
              <a:rPr lang="pl-PL" dirty="0" err="1" smtClean="0"/>
              <a:t>-S-p</a:t>
            </a:r>
            <a:r>
              <a:rPr lang="pl-PL" dirty="0" smtClean="0"/>
              <a:t>)e</a:t>
            </a:r>
            <a:r>
              <a:rPr lang="pl-PL" baseline="30000" dirty="0" smtClean="0"/>
              <a:t>tT</a:t>
            </a:r>
            <a:r>
              <a:rPr lang="pl-PL" dirty="0" smtClean="0"/>
              <a:t>&gt;0”</a:t>
            </a:r>
          </a:p>
          <a:p>
            <a:pPr>
              <a:buNone/>
            </a:pPr>
            <a:r>
              <a:rPr lang="pl-PL" dirty="0" smtClean="0"/>
              <a:t>Wariant 2. Nie wykonamy opcję i sprzedamy akcję po cenie rynkowej, która przekroczy cenę wykonania i wtedy zarobimy jeszcze więcej.</a:t>
            </a:r>
          </a:p>
          <a:p>
            <a:pPr>
              <a:buNone/>
            </a:pPr>
            <a:r>
              <a:rPr lang="pl-PL" dirty="0" smtClean="0"/>
              <a:t>Mamy więc zysk bez ryzyka co najmniej </a:t>
            </a:r>
          </a:p>
          <a:p>
            <a:pPr algn="ctr">
              <a:buNone/>
            </a:pPr>
            <a:r>
              <a:rPr lang="pl-PL" smtClean="0"/>
              <a:t>„(</a:t>
            </a:r>
            <a:r>
              <a:rPr lang="pl-PL" dirty="0" err="1" smtClean="0"/>
              <a:t>Xe</a:t>
            </a:r>
            <a:r>
              <a:rPr lang="pl-PL" baseline="30000" dirty="0" err="1" smtClean="0"/>
              <a:t>-rT</a:t>
            </a:r>
            <a:r>
              <a:rPr lang="pl-PL" dirty="0" err="1" smtClean="0"/>
              <a:t>-S-p</a:t>
            </a:r>
            <a:r>
              <a:rPr lang="pl-PL" dirty="0" smtClean="0"/>
              <a:t>)e</a:t>
            </a:r>
            <a:r>
              <a:rPr lang="pl-PL" baseline="30000" dirty="0" smtClean="0"/>
              <a:t>tT</a:t>
            </a:r>
            <a:r>
              <a:rPr lang="pl-PL" dirty="0" smtClean="0"/>
              <a:t>&gt;0”</a:t>
            </a:r>
          </a:p>
          <a:p>
            <a:pPr>
              <a:buNone/>
            </a:pPr>
            <a:endParaRPr lang="pl-PL" dirty="0" smtClean="0"/>
          </a:p>
          <a:p>
            <a:pPr>
              <a:buNone/>
            </a:pPr>
            <a:endParaRPr lang="pl-P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Opcje europejskie</a:t>
            </a:r>
            <a:endParaRPr lang="pl-PL" dirty="0"/>
          </a:p>
        </p:txBody>
      </p:sp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Opcja kupna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Opcja sprzedaży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Dolne ograniczenie ceny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smtClean="0"/>
                        <a:t>max(S-Xe</a:t>
                      </a:r>
                      <a:r>
                        <a:rPr lang="pl-PL" baseline="30000" dirty="0" smtClean="0"/>
                        <a:t>-rT</a:t>
                      </a:r>
                      <a:r>
                        <a:rPr lang="pl-PL" dirty="0" smtClean="0"/>
                        <a:t>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smtClean="0"/>
                        <a:t>max(Xe</a:t>
                      </a:r>
                      <a:r>
                        <a:rPr lang="pl-PL" baseline="30000" dirty="0" smtClean="0"/>
                        <a:t>-rT</a:t>
                      </a:r>
                      <a:r>
                        <a:rPr lang="pl-PL" dirty="0" smtClean="0"/>
                        <a:t>-S,0)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Górna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dirty="0" smtClean="0"/>
                        <a:t>ograniczenie </a:t>
                      </a:r>
                      <a:r>
                        <a:rPr lang="pl-PL" baseline="0" dirty="0" smtClean="0"/>
                        <a:t>ceny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S 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err="1" smtClean="0"/>
                        <a:t>Xe</a:t>
                      </a:r>
                      <a:r>
                        <a:rPr lang="pl-PL" baseline="30000" dirty="0" err="1" smtClean="0"/>
                        <a:t>-r</a:t>
                      </a:r>
                      <a:endParaRPr lang="pl-PL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Opcje amerykańskie</a:t>
            </a:r>
            <a:endParaRPr lang="pl-PL" dirty="0"/>
          </a:p>
        </p:txBody>
      </p:sp>
      <p:graphicFrame>
        <p:nvGraphicFramePr>
          <p:cNvPr id="5" name="Symbol zastępczy zawartości 3"/>
          <p:cNvGraphicFramePr>
            <a:graphicFrameLocks/>
          </p:cNvGraphicFramePr>
          <p:nvPr/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Opcja kupna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Opcja sprzedaży</a:t>
                      </a:r>
                      <a:endParaRPr lang="pl-P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Dolne ograniczenie ceny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smtClean="0"/>
                        <a:t>Trudno oszacować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mtClean="0"/>
                        <a:t>Trudno oszacować</a:t>
                      </a:r>
                      <a:endParaRPr lang="pl-PL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 smtClean="0"/>
                        <a:t>Górna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dirty="0" smtClean="0"/>
                        <a:t>ograniczenie </a:t>
                      </a:r>
                      <a:r>
                        <a:rPr lang="pl-PL" baseline="0" dirty="0" smtClean="0"/>
                        <a:t>ceny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S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 smtClean="0"/>
                        <a:t>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4586</TotalTime>
  <Words>1209</Words>
  <Application>Microsoft Office PowerPoint</Application>
  <PresentationFormat>Pokaz na ekranie (4:3)</PresentationFormat>
  <Paragraphs>147</Paragraphs>
  <Slides>29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0" baseType="lpstr">
      <vt:lpstr>Motyw pakietu Office</vt:lpstr>
      <vt:lpstr>MECHANIZMY DZIAŁANIA RYNKÓW OPCJI-OBLICZANIE CEN OPCJI</vt:lpstr>
      <vt:lpstr>Terminologia-przypomnienie</vt:lpstr>
      <vt:lpstr>Terminologia c.d.</vt:lpstr>
      <vt:lpstr>Obrót opcjami na rynku giełdowym</vt:lpstr>
      <vt:lpstr>Market maker</vt:lpstr>
      <vt:lpstr>Makler prowadzący rejestr zleceń</vt:lpstr>
      <vt:lpstr>Schemat obrotu opcjami</vt:lpstr>
      <vt:lpstr>Depozyt zabezpieczający</vt:lpstr>
      <vt:lpstr>Tranzakcje typu „wash sale” w USA</vt:lpstr>
      <vt:lpstr>Tranzakcje typu „wash sale” w USA</vt:lpstr>
      <vt:lpstr>Opcje na rynku pozagiełdowym</vt:lpstr>
      <vt:lpstr>Obliczanie cen opcji na akcje firm nie wypłacających dywidendy - notacja</vt:lpstr>
      <vt:lpstr>Slajd 13</vt:lpstr>
      <vt:lpstr>Górne ograniczenia dla wartości opcji kupna</vt:lpstr>
      <vt:lpstr>Strategia arbitrażowa gdy c&gt;S, lub C&gt;S</vt:lpstr>
      <vt:lpstr>Górne ograniczenia dla wartości opcji sprzedaży</vt:lpstr>
      <vt:lpstr>Strategia arbitrażowa gdy p&gt;X, lub P&gt;X</vt:lpstr>
      <vt:lpstr>Górne ograniczenia dla wartości opcji sprzedaży</vt:lpstr>
      <vt:lpstr>Strategia arbitrażowa gdy p&gt;Xe-r*T</vt:lpstr>
      <vt:lpstr>Dolne ograniczenie dla europejskiej opcji kupna</vt:lpstr>
      <vt:lpstr>Strategia arbitrażowa gdy c≤0</vt:lpstr>
      <vt:lpstr>Strategia arbitrażowa gdy c≤S-Xe-rT</vt:lpstr>
      <vt:lpstr>Strategia arbitrażowa gdy c≤S-Xe-rT</vt:lpstr>
      <vt:lpstr>Dolne ograniczenie dla europejskiej opcji sprzedaży</vt:lpstr>
      <vt:lpstr>Strategia arbitrażowa gdy p≤0</vt:lpstr>
      <vt:lpstr>Strategia arbitrażowa gdy p&lt;Xe-rT-S</vt:lpstr>
      <vt:lpstr>Strategia arbitrażowa gdy p&lt;Xe-rT-S</vt:lpstr>
      <vt:lpstr>Opcje europejskie</vt:lpstr>
      <vt:lpstr>Opcje amerykańskie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AKCJE</dc:title>
  <dc:creator>Łukasz</dc:creator>
  <cp:lastModifiedBy>Łukasz</cp:lastModifiedBy>
  <cp:revision>555</cp:revision>
  <dcterms:created xsi:type="dcterms:W3CDTF">2012-10-05T09:36:32Z</dcterms:created>
  <dcterms:modified xsi:type="dcterms:W3CDTF">2012-12-17T12:09:09Z</dcterms:modified>
</cp:coreProperties>
</file>